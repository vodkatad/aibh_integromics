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Mono Light"/>
      <p:regular r:id="rId33"/>
      <p:bold r:id="rId34"/>
      <p:italic r:id="rId35"/>
      <p:boldItalic r:id="rId36"/>
    </p:embeddedFont>
    <p:embeddedFont>
      <p:font typeface="Roboto Mono"/>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5" roundtripDataSignature="AMtx7mhfFofRvDH1ihQ6Nb8Mz2qvSz9O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5.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7.xml"/><Relationship Id="rId44" Type="http://schemas.openxmlformats.org/officeDocument/2006/relationships/font" Target="fonts/OpenSans-boldItalic.fntdata"/><Relationship Id="rId21" Type="http://schemas.openxmlformats.org/officeDocument/2006/relationships/slide" Target="slides/slide16.xml"/><Relationship Id="rId43" Type="http://schemas.openxmlformats.org/officeDocument/2006/relationships/font" Target="fonts/OpenSans-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Light-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Light-italic.fntdata"/><Relationship Id="rId12" Type="http://schemas.openxmlformats.org/officeDocument/2006/relationships/slide" Target="slides/slide7.xml"/><Relationship Id="rId34" Type="http://schemas.openxmlformats.org/officeDocument/2006/relationships/font" Target="fonts/RobotoMonoLight-bold.fntdata"/><Relationship Id="rId15" Type="http://schemas.openxmlformats.org/officeDocument/2006/relationships/slide" Target="slides/slide10.xml"/><Relationship Id="rId37" Type="http://schemas.openxmlformats.org/officeDocument/2006/relationships/font" Target="fonts/RobotoMono-regular.fntdata"/><Relationship Id="rId14" Type="http://schemas.openxmlformats.org/officeDocument/2006/relationships/slide" Target="slides/slide9.xml"/><Relationship Id="rId36" Type="http://schemas.openxmlformats.org/officeDocument/2006/relationships/font" Target="fonts/RobotoMonoLight-boldItalic.fntdata"/><Relationship Id="rId17" Type="http://schemas.openxmlformats.org/officeDocument/2006/relationships/slide" Target="slides/slide12.xml"/><Relationship Id="rId39" Type="http://schemas.openxmlformats.org/officeDocument/2006/relationships/font" Target="fonts/RobotoMono-italic.fntdata"/><Relationship Id="rId16" Type="http://schemas.openxmlformats.org/officeDocument/2006/relationships/slide" Target="slides/slide11.xml"/><Relationship Id="rId38" Type="http://schemas.openxmlformats.org/officeDocument/2006/relationships/font" Target="fonts/RobotoMon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bi.ac.uk/training/online/course/functional-genomics-ii-common-technologies-and-data-analysis-methods/performing-rna-seq" TargetMode="External"/><Relationship Id="rId3" Type="http://schemas.openxmlformats.org/officeDocument/2006/relationships/hyperlink" Target="https://link.springer.com/protocol/10.1007%2F978-1-4939-3578-9_18" TargetMode="External"/><Relationship Id="rId4" Type="http://schemas.openxmlformats.org/officeDocument/2006/relationships/hyperlink" Target="https://galaxyproject.org/tutorials/rb_rnaseq/"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cseq.com/support/ngs/why-does-the-sequence-quality-decrease-over-the-read-in-illumina"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cseq.com/support/ngs/why-does-the-sequence-quality-decrease-over-the-read-in-illumin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4ced1b1a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4ced1b1a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https://www.ebi.ac.uk/training/online/course/functional-genomics-ii-common-technologies-and-data-analysis-methods/performing-rna-seq</a:t>
            </a:r>
            <a:endParaRPr/>
          </a:p>
          <a:p>
            <a:pPr indent="0" lvl="0" marL="0" rtl="0" algn="l">
              <a:lnSpc>
                <a:spcPct val="100000"/>
              </a:lnSpc>
              <a:spcBef>
                <a:spcPts val="0"/>
              </a:spcBef>
              <a:spcAft>
                <a:spcPts val="0"/>
              </a:spcAft>
              <a:buSzPts val="1100"/>
              <a:buNone/>
            </a:pPr>
            <a:r>
              <a:rPr lang="en"/>
              <a:t>Vedere </a:t>
            </a:r>
            <a:r>
              <a:rPr lang="en" u="sng">
                <a:solidFill>
                  <a:schemeClr val="hlink"/>
                </a:solidFill>
                <a:hlinkClick r:id="rId3"/>
              </a:rPr>
              <a:t>https://link.springer.com/protocol/10.1007%2F978-1-4939-3578-9_18</a:t>
            </a:r>
            <a:endParaRPr/>
          </a:p>
          <a:p>
            <a:pPr indent="0" lvl="0" marL="0" rtl="0" algn="l">
              <a:lnSpc>
                <a:spcPct val="100000"/>
              </a:lnSpc>
              <a:spcBef>
                <a:spcPts val="0"/>
              </a:spcBef>
              <a:spcAft>
                <a:spcPts val="0"/>
              </a:spcAft>
              <a:buClr>
                <a:schemeClr val="dk1"/>
              </a:buClr>
              <a:buSzPts val="1100"/>
              <a:buFont typeface="Arial"/>
              <a:buNone/>
            </a:pPr>
            <a:r>
              <a:rPr lang="en" u="sng">
                <a:solidFill>
                  <a:schemeClr val="accent5"/>
                </a:solidFill>
                <a:hlinkClick r:id="rId4">
                  <a:extLst>
                    <a:ext uri="{A12FA001-AC4F-418D-AE19-62706E023703}">
                      <ahyp:hlinkClr val="tx"/>
                    </a:ext>
                  </a:extLst>
                </a:hlinkClick>
              </a:rPr>
              <a:t>https://galaxyproject.org/tutorials/rb_rnaseq/</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Questo grafico rappresenta il workflow di un esperimento di RNAseq</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Prima di tutto è fondamentale avere ben chiara qual’è la domanda biologica alla quale vogliamo rispondere con l’esperimento</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https://www.ecseq.com/support/ngs/why-does-the-sequence-quality-decrease-over-the-read-in-illumina</a:t>
            </a:r>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Fastqc si divide in moduli, ciascuno dei quali da come risultato un grafico.</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Questo è il tipo di grafico che viene prodotto dal primo modulo</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Qui vedete un caso venuto bene,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E qui un caso venuto male.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Il primo indicatore della qualità di un sequenziamento è la qualità che si osserva base per base nel reads.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Con qualità qui si intende il Phred score che abbiamo imparato a conoscere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Che in questi grafici sta sull’asse y</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Sull’asse x c’è la posizione sui read</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Quindi la lunghezza del sequenziamento in questi casi è 40 nucleotidi</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Per ogni posizione c’è un BoxPlot</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Vedete che c’è un area verde una gialla e una rossa, corrispondenti a certi cutoff in temini di Phred score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Una base sopra 30 è sbagliata nell’1 per mille dei casi, quindi ha una ottima qualità e la poniamo nella zona verde.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Nel caso venuto male vedete che ad un certo punto la qualità delle basi crolla e di fatto la sequenza dei read diventa inattendibile.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È normale che ci sia un decadimento della qualità man mano che si procede nel sequenziamento, magari può anche darsi che le ultime basi dei read tendano ad essere nella parte gialla</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Ma non così tanto.</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https://www.ecseq.com/support/ngs/why-does-the-sequence-quality-decrease-over-the-read-in-illumina</a:t>
            </a:r>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Fastqc si divide in moduli, ciascuno dei quali da come risultato un grafico.</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Questo è il tipo di grafico che viene prodotto dal primo modulo</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Qui vedete un caso venuto bene,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E qui un caso venuto male.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Il primo indicatore della qualità di un sequenziamento è la qualità che si osserva base per base nel reads.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Con qualità qui si intende il Phred score che abbiamo imparato a conoscere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Che in questi grafici sta sull’asse y</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Sull’asse x c’è la posizione sui read</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Quindi la lunghezza del sequenziamento in questi casi è 40 nucleotidi</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Per ogni posizione c’è un BoxPlot</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Vedete che c’è un area verde una gialla e una rossa, corrispondenti a certi cutoff in temini di Phred score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Una base sopra 30 è sbagliata nell’1 per mille dei casi, quindi ha una ottima qualità e la poniamo nella zona verde.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Nel caso venuto male vedete che ad un certo punto la qualità delle basi crolla e di fatto la sequenza dei read diventa inattendibile.</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È normale che ci sia un decadimento della qualità man mano che si procede nel sequenziamento, magari può anche darsi che le ultime basi dei read tendano ad essere nella parte gialla</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sz="1150">
                <a:solidFill>
                  <a:srgbClr val="333333"/>
                </a:solidFill>
                <a:highlight>
                  <a:srgbClr val="FFFFFF"/>
                </a:highlight>
                <a:latin typeface="Open Sans"/>
                <a:ea typeface="Open Sans"/>
                <a:cs typeface="Open Sans"/>
                <a:sym typeface="Open Sans"/>
              </a:rPr>
              <a:t>Ma non così tanto.</a:t>
            </a:r>
            <a:endParaRPr sz="1150">
              <a:solidFill>
                <a:srgbClr val="333333"/>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Invece di ispezionare la qualità base per base in ciascun read possiamo controllare la qualità media delle sequenze per ciascun read,</a:t>
            </a:r>
            <a:endParaRPr/>
          </a:p>
          <a:p>
            <a:pPr indent="0" lvl="0" marL="0" rtl="0" algn="l">
              <a:lnSpc>
                <a:spcPct val="100000"/>
              </a:lnSpc>
              <a:spcBef>
                <a:spcPts val="0"/>
              </a:spcBef>
              <a:spcAft>
                <a:spcPts val="0"/>
              </a:spcAft>
              <a:buSzPts val="1100"/>
              <a:buNone/>
            </a:pPr>
            <a:r>
              <a:rPr lang="en"/>
              <a:t>In un caso buon ci aspettiamo che in media le sequenze abbiano una qualità sopra 30</a:t>
            </a:r>
            <a:endParaRPr/>
          </a:p>
          <a:p>
            <a:pPr indent="0" lvl="0" marL="0" rtl="0" algn="l">
              <a:lnSpc>
                <a:spcPct val="100000"/>
              </a:lnSpc>
              <a:spcBef>
                <a:spcPts val="0"/>
              </a:spcBef>
              <a:spcAft>
                <a:spcPts val="0"/>
              </a:spcAft>
              <a:buSzPts val="1100"/>
              <a:buNone/>
            </a:pPr>
            <a:r>
              <a:rPr lang="en"/>
              <a:t>In questo grafico vediamo un caso problematico</a:t>
            </a:r>
            <a:endParaRPr/>
          </a:p>
          <a:p>
            <a:pPr indent="0" lvl="0" marL="0" rtl="0" algn="l">
              <a:lnSpc>
                <a:spcPct val="100000"/>
              </a:lnSpc>
              <a:spcBef>
                <a:spcPts val="0"/>
              </a:spcBef>
              <a:spcAft>
                <a:spcPts val="0"/>
              </a:spcAft>
              <a:buSzPts val="1100"/>
              <a:buNone/>
            </a:pPr>
            <a:r>
              <a:rPr lang="en"/>
              <a:t>Anche qui la causa potrebbe essere un problema nei reagenti.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Può anche essere interessante osservare come la qualità delle sequenza cambia a seconda di dove si sia il cluster da cui provengono nella geografia della flow-cell.</a:t>
            </a:r>
            <a:endParaRPr/>
          </a:p>
          <a:p>
            <a:pPr indent="0" lvl="0" marL="0" rtl="0" algn="l">
              <a:lnSpc>
                <a:spcPct val="100000"/>
              </a:lnSpc>
              <a:spcBef>
                <a:spcPts val="0"/>
              </a:spcBef>
              <a:spcAft>
                <a:spcPts val="0"/>
              </a:spcAft>
              <a:buSzPts val="1100"/>
              <a:buNone/>
            </a:pPr>
            <a:r>
              <a:rPr lang="en"/>
              <a:t>Vi ricordate che la flow-cell è divisa in lane e che le lane a loro volta sono divise in tail</a:t>
            </a:r>
            <a:endParaRPr/>
          </a:p>
          <a:p>
            <a:pPr indent="0" lvl="0" marL="0" rtl="0" algn="l">
              <a:lnSpc>
                <a:spcPct val="100000"/>
              </a:lnSpc>
              <a:spcBef>
                <a:spcPts val="0"/>
              </a:spcBef>
              <a:spcAft>
                <a:spcPts val="0"/>
              </a:spcAft>
              <a:buSzPts val="1100"/>
              <a:buNone/>
            </a:pPr>
            <a:r>
              <a:rPr lang="en"/>
              <a:t>Il fatto che le sequenze di bassa qualità provengano da specifiche tail può essere un sintomo di un difetto di costruzione nella flow-cell.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Un’altro modulo interessante di fastqc calcola il contenuto di basi in ogni posizione.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Sull’asse delle x abbiamo la posizione lungo il read,</a:t>
            </a:r>
            <a:endParaRPr/>
          </a:p>
          <a:p>
            <a:pPr indent="0" lvl="0" marL="0" rtl="0" algn="l">
              <a:lnSpc>
                <a:spcPct val="100000"/>
              </a:lnSpc>
              <a:spcBef>
                <a:spcPts val="0"/>
              </a:spcBef>
              <a:spcAft>
                <a:spcPts val="0"/>
              </a:spcAft>
              <a:buSzPts val="1100"/>
              <a:buNone/>
            </a:pPr>
            <a:r>
              <a:rPr lang="en"/>
              <a:t>mentre sull’asse delle Y abbiamo la percentuale di read che in quella posizione hanno una T oppure una C, una A o una G a seconda del colore della curva,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Non ci aspettiamo che ci siano differenze nella distribuzione di basi in diverse posizioni del read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L’ammontare relativo di ciascuna base dovrebbe riflettere, in ciascuna posizione, l’ammontare di basi nel trascrittoma.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questo caso dalla posizione 14 in poi effettivamente vediamo delle linee parallele,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Il che vuol dire che la distribuzione dei 4 nucleotidi non cambia con la posizione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 vediamo che c’è una certa predominanza di T e A, come ci aspettiamo dalla composizione in basi del genoma.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Tuttavia nei primi nucleotidi dei read vediamo che ogni posizione ha una certa preferenza per un qualche nucleotide, ad esempio nella prima posizione c’è quasi sempre una T, nel quindi c’è spesso una A.</a:t>
            </a:r>
            <a:endParaRPr/>
          </a:p>
          <a:p>
            <a:pPr indent="0" lvl="0" marL="0" rtl="0" algn="l">
              <a:lnSpc>
                <a:spcPct val="100000"/>
              </a:lnSpc>
              <a:spcBef>
                <a:spcPts val="0"/>
              </a:spcBef>
              <a:spcAft>
                <a:spcPts val="0"/>
              </a:spcAft>
              <a:buSzPts val="1100"/>
              <a:buNone/>
            </a:pPr>
            <a:r>
              <a:rPr lang="en"/>
              <a:t>Questo fenomeno non è atteso, infatti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 gli mRNA sono frammentati casualmente e quindi sono amplificati con dei primer random.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realtà ci sono certi primer che sono avvantaggiati rispetto ad altri nella PCR di amplificazione e questo porta a dei bias che possiamo vedere ad esempio in questo modo.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Questo è un problema, ma si vede sempre in tutte le librerie di RNA-seq.</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Anche se c’è sempre tendenzialmente si ignora.</a:t>
            </a:r>
            <a:endParaRPr/>
          </a:p>
          <a:p>
            <a:pPr indent="0" lvl="0" marL="0" rtl="0" algn="l">
              <a:lnSpc>
                <a:spcPct val="100000"/>
              </a:lnSpc>
              <a:spcBef>
                <a:spcPts val="0"/>
              </a:spcBef>
              <a:spcAft>
                <a:spcPts val="0"/>
              </a:spcAft>
              <a:buSzPts val="1100"/>
              <a:buNone/>
            </a:pPr>
            <a:r>
              <a:rPr lang="en"/>
              <a:t>Infatti un bias molto forte porterebbe a una copertura molto disomogenea dei trascritti, con alcune parti ben sequenziate e altre mal sequenziate, questo normalmente non si osserva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Inoltre si tratta di un artefatto che occorre ugualmente in tutte le librerie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Quindi se facciamo un’analisi differenziale gli errori introdotti si cancellano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Anche se questo effetto è piccolo è uno dei motivi per cui l’RNA-Seq è molto più affidabile se si confronta l’espressione dello stesso gene campioni diversi,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piuttosto che se si confronta l’espressione di geni diversi nello stesso campione.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Questo è un punto importante e quindi lo ripeto.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l’RNA-Seq è molto più affidabile se si confronta l’espressione dello stesso gene campioni diversi, piuttosto che se si confronta l’espressione di geni diversi nello stesso campione.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 invece il rapporto relativo tra l’abbondanza delle basi cambia lungo tutta la lunghezza del read</a:t>
            </a:r>
            <a:endParaRPr/>
          </a:p>
          <a:p>
            <a:pPr indent="0" lvl="0" marL="0" rtl="0" algn="l">
              <a:lnSpc>
                <a:spcPct val="100000"/>
              </a:lnSpc>
              <a:spcBef>
                <a:spcPts val="0"/>
              </a:spcBef>
              <a:spcAft>
                <a:spcPts val="0"/>
              </a:spcAft>
              <a:buSzPts val="1100"/>
              <a:buNone/>
            </a:pPr>
            <a:r>
              <a:rPr lang="en"/>
              <a:t>Come in questo caso</a:t>
            </a:r>
            <a:endParaRPr/>
          </a:p>
          <a:p>
            <a:pPr indent="0" lvl="0" marL="0" rtl="0" algn="l">
              <a:lnSpc>
                <a:spcPct val="100000"/>
              </a:lnSpc>
              <a:spcBef>
                <a:spcPts val="0"/>
              </a:spcBef>
              <a:spcAft>
                <a:spcPts val="0"/>
              </a:spcAft>
              <a:buSzPts val="1100"/>
              <a:buNone/>
            </a:pPr>
            <a:r>
              <a:rPr lang="en"/>
              <a:t>Allora siamo di fronte ad un qualche grosso problema nel sequenziamento e probabilmente dobbiamo buttare via i dati.</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https://www.biostars.org/p/107402/</a:t>
            </a:r>
            <a:endParaRPr/>
          </a:p>
          <a:p>
            <a:pPr indent="0" lvl="0" marL="0" rtl="0" algn="l">
              <a:lnSpc>
                <a:spcPct val="100000"/>
              </a:lnSpc>
              <a:spcBef>
                <a:spcPts val="0"/>
              </a:spcBef>
              <a:spcAft>
                <a:spcPts val="0"/>
              </a:spcAft>
              <a:buSzPts val="1100"/>
              <a:buNone/>
            </a:pPr>
            <a:r>
              <a:rPr lang="en"/>
              <a:t>Un altro tema interessante è quello delle sequenze duplicate.</a:t>
            </a:r>
            <a:endParaRPr/>
          </a:p>
          <a:p>
            <a:pPr indent="0" lvl="0" marL="0" rtl="0" algn="l">
              <a:lnSpc>
                <a:spcPct val="100000"/>
              </a:lnSpc>
              <a:spcBef>
                <a:spcPts val="0"/>
              </a:spcBef>
              <a:spcAft>
                <a:spcPts val="0"/>
              </a:spcAft>
              <a:buSzPts val="1100"/>
              <a:buNone/>
            </a:pPr>
            <a:r>
              <a:rPr lang="en"/>
              <a:t>Ci aspettiamo che la probabilità di leggere due volte la stessa sequenza sia bassissima, anche se la profondità di sequenziamento è notevole.</a:t>
            </a:r>
            <a:endParaRPr/>
          </a:p>
          <a:p>
            <a:pPr indent="0" lvl="0" marL="0" rtl="0" algn="l">
              <a:lnSpc>
                <a:spcPct val="100000"/>
              </a:lnSpc>
              <a:spcBef>
                <a:spcPts val="0"/>
              </a:spcBef>
              <a:spcAft>
                <a:spcPts val="0"/>
              </a:spcAft>
              <a:buSzPts val="1100"/>
              <a:buNone/>
            </a:pPr>
            <a:r>
              <a:rPr lang="en"/>
              <a:t>Un esperimento di RNA-Seq può essere modellizzato come un campionamento casuale.</a:t>
            </a:r>
            <a:endParaRPr/>
          </a:p>
          <a:p>
            <a:pPr indent="0" lvl="0" marL="0" rtl="0" algn="l">
              <a:lnSpc>
                <a:spcPct val="100000"/>
              </a:lnSpc>
              <a:spcBef>
                <a:spcPts val="0"/>
              </a:spcBef>
              <a:spcAft>
                <a:spcPts val="0"/>
              </a:spcAft>
              <a:buSzPts val="1100"/>
              <a:buNone/>
            </a:pPr>
            <a:r>
              <a:rPr lang="en"/>
              <a:t>Campionamento di cosa: di mRNA frammentati a caso.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Qual’è la probabilità di pescare due volte lo stesso frammento? Anche se peschiamo decine di milioni di frammenti? Molto bassa.</a:t>
            </a:r>
            <a:endParaRPr/>
          </a:p>
          <a:p>
            <a:pPr indent="0" lvl="0" marL="0" rtl="0" algn="l">
              <a:lnSpc>
                <a:spcPct val="100000"/>
              </a:lnSpc>
              <a:spcBef>
                <a:spcPts val="0"/>
              </a:spcBef>
              <a:spcAft>
                <a:spcPts val="0"/>
              </a:spcAft>
              <a:buSzPts val="1100"/>
              <a:buNone/>
            </a:pPr>
            <a:r>
              <a:rPr lang="en"/>
              <a:t>Non proprio trascurabile.</a:t>
            </a:r>
            <a:endParaRPr/>
          </a:p>
          <a:p>
            <a:pPr indent="0" lvl="0" marL="0" rtl="0" algn="l">
              <a:lnSpc>
                <a:spcPct val="100000"/>
              </a:lnSpc>
              <a:spcBef>
                <a:spcPts val="0"/>
              </a:spcBef>
              <a:spcAft>
                <a:spcPts val="0"/>
              </a:spcAft>
              <a:buSzPts val="1100"/>
              <a:buNone/>
            </a:pPr>
            <a:r>
              <a:rPr lang="en"/>
              <a:t>Se stessimo sequenziando il genoma sarebbe praticamente 0, per il trascrittoma qualche sequenza identica, ce l’aspettiamo ma poche.</a:t>
            </a:r>
            <a:endParaRPr/>
          </a:p>
          <a:p>
            <a:pPr indent="0" lvl="0" marL="0" rtl="0" algn="l">
              <a:lnSpc>
                <a:spcPct val="100000"/>
              </a:lnSpc>
              <a:spcBef>
                <a:spcPts val="0"/>
              </a:spcBef>
              <a:spcAft>
                <a:spcPts val="0"/>
              </a:spcAft>
              <a:buSzPts val="1100"/>
              <a:buNone/>
            </a:pPr>
            <a:r>
              <a:rPr lang="en"/>
              <a:t>È più probabile che se vediamo due sequenze identiche queste siano il frutto di una duplicazione indotta dalla PCR o siano sintomo di qualche altro problema.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Il grafico di questo modulo di fastqc analizza proprio i duplicati, intesi come read con sequenza esattamente identica.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La linea blu mostra la percentuale di libreria che è composta da sequenze duplicate, divisa in bin.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Nel caso “bono” a sinistra vedete che c’è qualche percento di read duplicati tra 10 e 50 volte, sono comunque pochi e non ci preoccupiamo.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Nell’esempio “cattivo” vedete molte più sequenze duplicate ed un grafico del genere è sintomo di qualcosa che non va.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Ci sono dei metodi di de-duplicazione in silico ma ve li risparmio, come anche la curva rossa in questi plot.</a:t>
            </a:r>
            <a:endParaRPr/>
          </a:p>
          <a:p>
            <a:pPr indent="0" lvl="0" marL="0" rtl="0" algn="l">
              <a:lnSpc>
                <a:spcPct val="100000"/>
              </a:lnSpc>
              <a:spcBef>
                <a:spcPts val="0"/>
              </a:spcBef>
              <a:spcAft>
                <a:spcPts val="0"/>
              </a:spcAft>
              <a:buSzPts val="1100"/>
              <a:buNone/>
            </a:pPr>
            <a:r>
              <a:rPr lang="en"/>
              <a:t>Invece sappiate solo che è possibile preparare la libreria in modo da poter rimuovere i duplicati, questo si ottene aggiungendo dei barcode (delle sequenze di nucleotidi note, lunghe 7 o 8 nucleotidi) </a:t>
            </a:r>
            <a:endParaRPr/>
          </a:p>
          <a:p>
            <a:pPr indent="0" lvl="0" marL="0" rtl="0" algn="l">
              <a:lnSpc>
                <a:spcPct val="100000"/>
              </a:lnSpc>
              <a:spcBef>
                <a:spcPts val="0"/>
              </a:spcBef>
              <a:spcAft>
                <a:spcPts val="0"/>
              </a:spcAft>
              <a:buSzPts val="1100"/>
              <a:buNone/>
            </a:pPr>
            <a:r>
              <a:rPr lang="en"/>
              <a:t>Che si chiamano </a:t>
            </a:r>
            <a:r>
              <a:rPr lang="en">
                <a:solidFill>
                  <a:schemeClr val="dk1"/>
                </a:solidFill>
              </a:rPr>
              <a:t>UMI, che etichettano ogni molecola prima della fase di amplificazione per PCR, quindi se vediamo due read con lo stesso UMI sappiamo che provengono in realtà dalla stessa PCR.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Un alto livello di duplicazione può essere anche dovuto alla presenza di una sequenza over rappresentata.</a:t>
            </a:r>
            <a:endParaRPr/>
          </a:p>
          <a:p>
            <a:pPr indent="0" lvl="0" marL="0" rtl="0" algn="l">
              <a:lnSpc>
                <a:spcPct val="100000"/>
              </a:lnSpc>
              <a:spcBef>
                <a:spcPts val="0"/>
              </a:spcBef>
              <a:spcAft>
                <a:spcPts val="0"/>
              </a:spcAft>
              <a:buSzPts val="1100"/>
              <a:buNone/>
            </a:pPr>
            <a:r>
              <a:rPr lang="en"/>
              <a:t>Supponiamo ad esempio che lo step di deplezione del RNA ribosomale non abbia funzionato bene e che nella nostra libreria ci sia un sacco di RNA ribosomale</a:t>
            </a:r>
            <a:endParaRPr/>
          </a:p>
          <a:p>
            <a:pPr indent="0" lvl="0" marL="0" rtl="0" algn="l">
              <a:lnSpc>
                <a:spcPct val="100000"/>
              </a:lnSpc>
              <a:spcBef>
                <a:spcPts val="0"/>
              </a:spcBef>
              <a:spcAft>
                <a:spcPts val="0"/>
              </a:spcAft>
              <a:buSzPts val="1100"/>
              <a:buNone/>
            </a:pPr>
            <a:r>
              <a:rPr lang="en"/>
              <a:t>Allora non è più così improbabile pescare 2 volte la stessa sequenza, anzi, in questo caso non avremo molte sequenze duplicate 10 o 20 volte,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avremo una o comunque poche sequenze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Quelle che derivano dall’RNA ribosomale, duplicate tantissime volte.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questo caso questa sequenza è presente nello 0.5% dei read,</a:t>
            </a:r>
            <a:endParaRPr/>
          </a:p>
          <a:p>
            <a:pPr indent="0" lvl="0" marL="0" rtl="0" algn="l">
              <a:lnSpc>
                <a:spcPct val="100000"/>
              </a:lnSpc>
              <a:spcBef>
                <a:spcPts val="0"/>
              </a:spcBef>
              <a:spcAft>
                <a:spcPts val="0"/>
              </a:spcAft>
              <a:buSzPts val="1100"/>
              <a:buNone/>
            </a:pPr>
            <a:r>
              <a:rPr lang="en"/>
              <a:t>sembra poco 0.5% ma se pensate che abbiamo sequenziato decine di milioni di reads alla fine abbiamo un consistente numero di sequenze tutte uguali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C’è un’altra possibile fonte di sequenze sovrarappresentate, si tratta degli adattatori.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Questo modulo di fatqc non cerca read che siano identici completamente, ma evidenzia anche delle sequenze più corte di un read intero, che siano presenti in molti read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Questo è il caso degli adattatori.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Supponiamo che l’inserto di DNA del read (la parte che ci interessa) sia particolarmente corto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Allora partendo a sequenziare dal primer di sequenziamento e sequenziando il numero di cicli previsto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Che per RNA-seq tipicamente è 75, o 100, raramente 150, potremmo sequenziare tutto l’inserto e continuare a sequenziare il read anche nella parte che in realtà non ci interessa</a:t>
            </a:r>
            <a:endParaRPr/>
          </a:p>
          <a:p>
            <a:pPr indent="0" lvl="0" marL="0" rtl="0" algn="l">
              <a:lnSpc>
                <a:spcPct val="100000"/>
              </a:lnSpc>
              <a:spcBef>
                <a:spcPts val="0"/>
              </a:spcBef>
              <a:spcAft>
                <a:spcPts val="0"/>
              </a:spcAft>
              <a:buSzPts val="1100"/>
              <a:buNone/>
            </a:pPr>
            <a:r>
              <a:rPr lang="en"/>
              <a:t>Che è composta dal primer di sequenziamento dell’index o l'adattatore che lega il read alla flowcell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Fastqc ci fa il favore di provare a vedere se le sequenze che trova sovrarappresentate corrispondono alla sequenza degli adattatori più usati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questo caso ad esempio si vede che per un buon numero di read la lettura è andata oltre l’inserto fino a comprendere un primer illumina.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Una possibile causa di questo problema è che i frammenti di RNA di partenza fossero più piccoli di quanto pianificato.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C’è anche un modulo specifico per gli adattatori in fastqc,</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Che oltre a quantificarli li mostra in relazione alla posizione nel read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Ovviamente ci aspettiamo che gli adattatori siano al fondo.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Questo plot mostra una libreria lunga circa 20, che è stata però sequenziata per 40 cicli, per ciò quasi tutte le sequenze dalla ventesima base in poi sono composte da adattatori.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Esistono dei software che sono specificamente disegnati per eliminare le sequenze degli adattatori dai read, e accorciare la lunghezza dei read di conseguenza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Questa procedura si chiama trimming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C’è anche un modulo specifico per gli adattatori in fastqc,</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Che oltre a quantificarli li mostra in relazione alla posizione nel read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Ovviamente ci aspettiamo che gli adattatori siano al fondo.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Questo plot mostra una libreria lunga circa 20, che è stata però sequenziata per 40 cicli, per ciò quasi tutte le sequenze dalla ventesima base in poi sono composte da adattatori.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Esistono dei software che sono specificamente disegnati per eliminare le sequenze degli adattatori dai read, e accorciare la lunghezza dei read di conseguenza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Questa procedura si chiama trimming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Il trimming, oltre a rimuovere gli adattatori, rimuove anche la porzione di sequenza al fondo del read qualora abbia una cattiva qualità</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https://phdcomics.com/comics/archive/phd070811s.gif</a:t>
            </a:r>
            <a:endParaRPr b="1"/>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https://en.wikipedia.org/wiki/Suffix_array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 sz="1800">
                <a:solidFill>
                  <a:srgbClr val="595959"/>
                </a:solidFill>
              </a:rPr>
              <a:t>https://www.evernote.com/shard/s3/u/0/sh/3813a2d8-983a-4898-b9d5-3cd1d5f88b88/3f1cef67f0fb20b49c4938132de99b5e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54ced1b1a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54ced1b1a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Com’è fatta quindi la matrice delle conte?</a:t>
            </a:r>
            <a:endParaRPr/>
          </a:p>
          <a:p>
            <a:pPr indent="0" lvl="0" marL="0" rtl="0" algn="l">
              <a:lnSpc>
                <a:spcPct val="100000"/>
              </a:lnSpc>
              <a:spcBef>
                <a:spcPts val="0"/>
              </a:spcBef>
              <a:spcAft>
                <a:spcPts val="0"/>
              </a:spcAft>
              <a:buSzPts val="1100"/>
              <a:buNone/>
            </a:pPr>
            <a:r>
              <a:rPr lang="en"/>
              <a:t>Potete immaginarla come un file excell, che ha tante righe quanti sono i geni, quindi circa 50mila, e tante colonne quanti sono i campioni sequenziati.</a:t>
            </a:r>
            <a:endParaRPr/>
          </a:p>
          <a:p>
            <a:pPr indent="0" lvl="0" marL="0" rtl="0" algn="l">
              <a:lnSpc>
                <a:spcPct val="100000"/>
              </a:lnSpc>
              <a:spcBef>
                <a:spcPts val="0"/>
              </a:spcBef>
              <a:spcAft>
                <a:spcPts val="0"/>
              </a:spcAft>
              <a:buSzPts val="1100"/>
              <a:buNone/>
            </a:pPr>
            <a:r>
              <a:rPr lang="en"/>
              <a:t>In ciascuna cella c’è un numero intero, che corrisponde al numero di read che cadono su quel certo gene nel dato campione.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4ced1b1a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54ced1b1a9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Com’è fatta quindi la matrice delle conte?</a:t>
            </a:r>
            <a:endParaRPr/>
          </a:p>
          <a:p>
            <a:pPr indent="0" lvl="0" marL="0" rtl="0" algn="l">
              <a:lnSpc>
                <a:spcPct val="100000"/>
              </a:lnSpc>
              <a:spcBef>
                <a:spcPts val="0"/>
              </a:spcBef>
              <a:spcAft>
                <a:spcPts val="0"/>
              </a:spcAft>
              <a:buSzPts val="1100"/>
              <a:buNone/>
            </a:pPr>
            <a:r>
              <a:rPr lang="en"/>
              <a:t>Potete immaginarla come un file excell, che ha tante righe quanti sono i geni, quindi circa 50mila, e tante colonne quanti sono i campioni sequenziati.</a:t>
            </a:r>
            <a:endParaRPr/>
          </a:p>
          <a:p>
            <a:pPr indent="0" lvl="0" marL="0" rtl="0" algn="l">
              <a:lnSpc>
                <a:spcPct val="100000"/>
              </a:lnSpc>
              <a:spcBef>
                <a:spcPts val="0"/>
              </a:spcBef>
              <a:spcAft>
                <a:spcPts val="0"/>
              </a:spcAft>
              <a:buSzPts val="1100"/>
              <a:buNone/>
            </a:pPr>
            <a:r>
              <a:rPr lang="en"/>
              <a:t>In ciascuna cella c’è un numero intero, che corrisponde al numero di read che cadono su quel certo gene nel dato campione.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54ced1b1a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354ced1b1a9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54ced1b1a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54ced1b1a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95"/>
          <p:cNvSpPr txBox="1"/>
          <p:nvPr>
            <p:ph type="title"/>
          </p:nvPr>
        </p:nvSpPr>
        <p:spPr>
          <a:xfrm>
            <a:off x="311700" y="54832"/>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9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 name="Google Shape;12;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95"/>
          <p:cNvSpPr txBox="1"/>
          <p:nvPr>
            <p:ph idx="2"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 name="Shape 14"/>
        <p:cNvGrpSpPr/>
        <p:nvPr/>
      </p:nvGrpSpPr>
      <p:grpSpPr>
        <a:xfrm>
          <a:off x="0" y="0"/>
          <a:ext cx="0" cy="0"/>
          <a:chOff x="0" y="0"/>
          <a:chExt cx="0" cy="0"/>
        </a:xfrm>
      </p:grpSpPr>
      <p:sp>
        <p:nvSpPr>
          <p:cNvPr id="15" name="Google Shape;15;p9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6" name="Google Shape;16;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7" name="Shape 17"/>
        <p:cNvGrpSpPr/>
        <p:nvPr/>
      </p:nvGrpSpPr>
      <p:grpSpPr>
        <a:xfrm>
          <a:off x="0" y="0"/>
          <a:ext cx="0" cy="0"/>
          <a:chOff x="0" y="0"/>
          <a:chExt cx="0" cy="0"/>
        </a:xfrm>
      </p:grpSpPr>
      <p:sp>
        <p:nvSpPr>
          <p:cNvPr id="18" name="Google Shape;18;p9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9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0" name="Google Shape;20;p9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1" name="Google Shape;21;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0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0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10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100"/>
          <p:cNvSpPr txBox="1"/>
          <p:nvPr>
            <p:ph idx="3"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28" name="Shape 28"/>
        <p:cNvGrpSpPr/>
        <p:nvPr/>
      </p:nvGrpSpPr>
      <p:grpSpPr>
        <a:xfrm>
          <a:off x="0" y="0"/>
          <a:ext cx="0" cy="0"/>
          <a:chOff x="0" y="0"/>
          <a:chExt cx="0" cy="0"/>
        </a:xfrm>
      </p:grpSpPr>
      <p:sp>
        <p:nvSpPr>
          <p:cNvPr id="29" name="Google Shape;29;p10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Calibri"/>
              <a:buNone/>
              <a:defRPr>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0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1" name="Google Shape;31;p1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 name="Shape 32"/>
        <p:cNvGrpSpPr/>
        <p:nvPr/>
      </p:nvGrpSpPr>
      <p:grpSpPr>
        <a:xfrm>
          <a:off x="0" y="0"/>
          <a:ext cx="0" cy="0"/>
          <a:chOff x="0" y="0"/>
          <a:chExt cx="0" cy="0"/>
        </a:xfrm>
      </p:grpSpPr>
      <p:sp>
        <p:nvSpPr>
          <p:cNvPr id="33" name="Google Shape;33;p10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35" name="Shape 35"/>
        <p:cNvGrpSpPr/>
        <p:nvPr/>
      </p:nvGrpSpPr>
      <p:grpSpPr>
        <a:xfrm>
          <a:off x="0" y="0"/>
          <a:ext cx="0" cy="0"/>
          <a:chOff x="0" y="0"/>
          <a:chExt cx="0" cy="0"/>
        </a:xfrm>
      </p:grpSpPr>
      <p:sp>
        <p:nvSpPr>
          <p:cNvPr id="36" name="Google Shape;36;p10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Calibri"/>
              <a:buNone/>
              <a:defRPr>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10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8" name="Google Shape;38;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39" name="Shape 39"/>
        <p:cNvGrpSpPr/>
        <p:nvPr/>
      </p:nvGrpSpPr>
      <p:grpSpPr>
        <a:xfrm>
          <a:off x="0" y="0"/>
          <a:ext cx="0" cy="0"/>
          <a:chOff x="0" y="0"/>
          <a:chExt cx="0" cy="0"/>
        </a:xfrm>
      </p:grpSpPr>
      <p:sp>
        <p:nvSpPr>
          <p:cNvPr id="40" name="Google Shape;40;p10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3">
    <p:spTree>
      <p:nvGrpSpPr>
        <p:cNvPr id="42" name="Shape 42"/>
        <p:cNvGrpSpPr/>
        <p:nvPr/>
      </p:nvGrpSpPr>
      <p:grpSpPr>
        <a:xfrm>
          <a:off x="0" y="0"/>
          <a:ext cx="0" cy="0"/>
          <a:chOff x="0" y="0"/>
          <a:chExt cx="0" cy="0"/>
        </a:xfrm>
      </p:grpSpPr>
      <p:sp>
        <p:nvSpPr>
          <p:cNvPr id="43" name="Google Shape;43;p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 name="Google Shape;44;p10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5" name="Google Shape;45;p10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6" name="Google Shape;46;p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47" name="Shape 47"/>
        <p:cNvGrpSpPr/>
        <p:nvPr/>
      </p:nvGrpSpPr>
      <p:grpSpPr>
        <a:xfrm>
          <a:off x="0" y="0"/>
          <a:ext cx="0" cy="0"/>
          <a:chOff x="0" y="0"/>
          <a:chExt cx="0" cy="0"/>
        </a:xfrm>
      </p:grpSpPr>
      <p:sp>
        <p:nvSpPr>
          <p:cNvPr id="48" name="Google Shape;48;p10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Calibri"/>
              <a:buNone/>
              <a:defRPr>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10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0" name="Google Shape;50;p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10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 name="Google Shape;53;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7"/>
          <p:cNvSpPr txBox="1"/>
          <p:nvPr>
            <p:ph idx="1"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 name="Shape 55"/>
        <p:cNvGrpSpPr/>
        <p:nvPr/>
      </p:nvGrpSpPr>
      <p:grpSpPr>
        <a:xfrm>
          <a:off x="0" y="0"/>
          <a:ext cx="0" cy="0"/>
          <a:chOff x="0" y="0"/>
          <a:chExt cx="0" cy="0"/>
        </a:xfrm>
      </p:grpSpPr>
      <p:sp>
        <p:nvSpPr>
          <p:cNvPr id="56" name="Google Shape;56;p10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7" name="Google Shape;57;p10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8" name="Google Shape;58;p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0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p1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sp>
        <p:nvSpPr>
          <p:cNvPr id="63" name="Google Shape;63;p110"/>
          <p:cNvSpPr txBox="1"/>
          <p:nvPr>
            <p:ph type="title"/>
          </p:nvPr>
        </p:nvSpPr>
        <p:spPr>
          <a:xfrm>
            <a:off x="311700" y="174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4" name="Google Shape;64;p110"/>
          <p:cNvSpPr txBox="1"/>
          <p:nvPr>
            <p:ph idx="1" type="body"/>
          </p:nvPr>
        </p:nvSpPr>
        <p:spPr>
          <a:xfrm>
            <a:off x="311700" y="10848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5" name="Google Shape;65;p1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10"/>
          <p:cNvSpPr txBox="1"/>
          <p:nvPr>
            <p:ph idx="2"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7" name="Shape 67"/>
        <p:cNvGrpSpPr/>
        <p:nvPr/>
      </p:nvGrpSpPr>
      <p:grpSpPr>
        <a:xfrm>
          <a:off x="0" y="0"/>
          <a:ext cx="0" cy="0"/>
          <a:chOff x="0" y="0"/>
          <a:chExt cx="0" cy="0"/>
        </a:xfrm>
      </p:grpSpPr>
      <p:sp>
        <p:nvSpPr>
          <p:cNvPr id="68" name="Google Shape;68;p1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0" name="Google Shape;70;p1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1" name="Google Shape;71;p1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2" name="Google Shape;72;p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11"/>
          <p:cNvSpPr txBox="1"/>
          <p:nvPr>
            <p:ph idx="3"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vl2pPr indent="-266700" lvl="1" marL="914400" algn="l">
              <a:lnSpc>
                <a:spcPct val="115000"/>
              </a:lnSpc>
              <a:spcBef>
                <a:spcPts val="1600"/>
              </a:spcBef>
              <a:spcAft>
                <a:spcPts val="0"/>
              </a:spcAft>
              <a:buSzPts val="600"/>
              <a:buChar char="○"/>
              <a:defRPr sz="600"/>
            </a:lvl2pPr>
            <a:lvl3pPr indent="-266700" lvl="2" marL="1371600" algn="l">
              <a:lnSpc>
                <a:spcPct val="115000"/>
              </a:lnSpc>
              <a:spcBef>
                <a:spcPts val="1600"/>
              </a:spcBef>
              <a:spcAft>
                <a:spcPts val="0"/>
              </a:spcAft>
              <a:buSzPts val="600"/>
              <a:buChar char="■"/>
              <a:defRPr sz="600"/>
            </a:lvl3pPr>
            <a:lvl4pPr indent="-266700" lvl="3" marL="1828800" algn="l">
              <a:lnSpc>
                <a:spcPct val="115000"/>
              </a:lnSpc>
              <a:spcBef>
                <a:spcPts val="1600"/>
              </a:spcBef>
              <a:spcAft>
                <a:spcPts val="0"/>
              </a:spcAft>
              <a:buSzPts val="600"/>
              <a:buChar char="●"/>
              <a:defRPr sz="600"/>
            </a:lvl4pPr>
            <a:lvl5pPr indent="-266700" lvl="4" marL="2286000" algn="l">
              <a:lnSpc>
                <a:spcPct val="115000"/>
              </a:lnSpc>
              <a:spcBef>
                <a:spcPts val="1600"/>
              </a:spcBef>
              <a:spcAft>
                <a:spcPts val="0"/>
              </a:spcAft>
              <a:buSzPts val="600"/>
              <a:buChar char="○"/>
              <a:defRPr sz="600"/>
            </a:lvl5pPr>
            <a:lvl6pPr indent="-266700" lvl="5" marL="2743200" algn="l">
              <a:lnSpc>
                <a:spcPct val="115000"/>
              </a:lnSpc>
              <a:spcBef>
                <a:spcPts val="1600"/>
              </a:spcBef>
              <a:spcAft>
                <a:spcPts val="0"/>
              </a:spcAft>
              <a:buSzPts val="600"/>
              <a:buChar char="■"/>
              <a:defRPr sz="600"/>
            </a:lvl6pPr>
            <a:lvl7pPr indent="-266700" lvl="6" marL="3200400" algn="l">
              <a:lnSpc>
                <a:spcPct val="115000"/>
              </a:lnSpc>
              <a:spcBef>
                <a:spcPts val="1600"/>
              </a:spcBef>
              <a:spcAft>
                <a:spcPts val="0"/>
              </a:spcAft>
              <a:buSzPts val="600"/>
              <a:buChar char="●"/>
              <a:defRPr sz="600"/>
            </a:lvl7pPr>
            <a:lvl8pPr indent="-266700" lvl="7" marL="3657600" algn="l">
              <a:lnSpc>
                <a:spcPct val="115000"/>
              </a:lnSpc>
              <a:spcBef>
                <a:spcPts val="1600"/>
              </a:spcBef>
              <a:spcAft>
                <a:spcPts val="0"/>
              </a:spcAft>
              <a:buSzPts val="600"/>
              <a:buChar char="○"/>
              <a:defRPr sz="600"/>
            </a:lvl8pPr>
            <a:lvl9pPr indent="-266700" lvl="8" marL="4114800" algn="l">
              <a:lnSpc>
                <a:spcPct val="115000"/>
              </a:lnSpc>
              <a:spcBef>
                <a:spcPts val="1600"/>
              </a:spcBef>
              <a:spcAft>
                <a:spcPts val="1600"/>
              </a:spcAft>
              <a:buSzPts val="600"/>
              <a:buChar char="■"/>
              <a:defRPr sz="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76" name="Google Shape;76;p1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12"/>
          <p:cNvSpPr txBox="1"/>
          <p:nvPr>
            <p:ph idx="2"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8" name="Shape 78"/>
        <p:cNvGrpSpPr/>
        <p:nvPr/>
      </p:nvGrpSpPr>
      <p:grpSpPr>
        <a:xfrm>
          <a:off x="0" y="0"/>
          <a:ext cx="0" cy="0"/>
          <a:chOff x="0" y="0"/>
          <a:chExt cx="0" cy="0"/>
        </a:xfrm>
      </p:grpSpPr>
      <p:sp>
        <p:nvSpPr>
          <p:cNvPr id="79" name="Google Shape;79;p1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0" name="Google Shape;80;p1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1" name="Google Shape;81;p1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13"/>
          <p:cNvSpPr txBox="1"/>
          <p:nvPr>
            <p:ph idx="2"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lvl1pPr indent="-266700" lvl="0" marL="457200" algn="l">
              <a:lnSpc>
                <a:spcPct val="115000"/>
              </a:lnSpc>
              <a:spcBef>
                <a:spcPts val="0"/>
              </a:spcBef>
              <a:spcAft>
                <a:spcPts val="0"/>
              </a:spcAft>
              <a:buSzPts val="600"/>
              <a:buChar char="●"/>
              <a:defRPr sz="6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85" name="Shape 85"/>
        <p:cNvGrpSpPr/>
        <p:nvPr/>
      </p:nvGrpSpPr>
      <p:grpSpPr>
        <a:xfrm>
          <a:off x="0" y="0"/>
          <a:ext cx="0" cy="0"/>
          <a:chOff x="0" y="0"/>
          <a:chExt cx="0" cy="0"/>
        </a:xfrm>
      </p:grpSpPr>
      <p:sp>
        <p:nvSpPr>
          <p:cNvPr id="86" name="Google Shape;86;p1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Calibri"/>
              <a:buNone/>
              <a:defRPr>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p1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8" name="Google Shape;88;p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2">
    <p:spTree>
      <p:nvGrpSpPr>
        <p:cNvPr id="89" name="Shape 89"/>
        <p:cNvGrpSpPr/>
        <p:nvPr/>
      </p:nvGrpSpPr>
      <p:grpSpPr>
        <a:xfrm>
          <a:off x="0" y="0"/>
          <a:ext cx="0" cy="0"/>
          <a:chOff x="0" y="0"/>
          <a:chExt cx="0" cy="0"/>
        </a:xfrm>
      </p:grpSpPr>
      <p:sp>
        <p:nvSpPr>
          <p:cNvPr id="90" name="Google Shape;90;p1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1" name="Google Shape;91;p1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92" name="Google Shape;92;p1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93" name="Google Shape;93;p1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94" name="Shape 94"/>
        <p:cNvGrpSpPr/>
        <p:nvPr/>
      </p:nvGrpSpPr>
      <p:grpSpPr>
        <a:xfrm>
          <a:off x="0" y="0"/>
          <a:ext cx="0" cy="0"/>
          <a:chOff x="0" y="0"/>
          <a:chExt cx="0" cy="0"/>
        </a:xfrm>
      </p:grpSpPr>
      <p:sp>
        <p:nvSpPr>
          <p:cNvPr id="95" name="Google Shape;95;p1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Calibri"/>
              <a:buNone/>
              <a:defRPr>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1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7" name="Google Shape;97;p1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statquest.org/statquest-boxplots/" TargetMode="External"/><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statquest.org/statquest-boxplots/" TargetMode="External"/><Relationship Id="rId6" Type="http://schemas.openxmlformats.org/officeDocument/2006/relationships/image" Target="../media/image16.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sequencing.qcfail.com/articles/positional-sequence-bias-in-random-primed-libraries/" TargetMode="External"/><Relationship Id="rId4" Type="http://schemas.openxmlformats.org/officeDocument/2006/relationships/image" Target="../media/image15.png"/><Relationship Id="rId5"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mblab.wustl.edu/GTF22.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54ced1b1a9_0_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Super quick intro to some CLI commands</a:t>
            </a:r>
            <a:endParaRPr/>
          </a:p>
        </p:txBody>
      </p:sp>
      <p:sp>
        <p:nvSpPr>
          <p:cNvPr id="103" name="Google Shape;103;g354ced1b1a9_0_4"/>
          <p:cNvSpPr txBox="1"/>
          <p:nvPr/>
        </p:nvSpPr>
        <p:spPr>
          <a:xfrm>
            <a:off x="435400" y="1549700"/>
            <a:ext cx="8678400" cy="2863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Mono Light"/>
              <a:buAutoNum type="arabicPeriod"/>
            </a:pPr>
            <a:r>
              <a:rPr lang="en" sz="1800">
                <a:solidFill>
                  <a:schemeClr val="dk2"/>
                </a:solidFill>
                <a:latin typeface="Roboto Mono Light"/>
                <a:ea typeface="Roboto Mono Light"/>
                <a:cs typeface="Roboto Mono Light"/>
                <a:sym typeface="Roboto Mono Light"/>
              </a:rPr>
              <a:t>cp source_path dest_path</a:t>
            </a:r>
            <a:endParaRPr sz="1800">
              <a:solidFill>
                <a:schemeClr val="dk2"/>
              </a:solidFill>
              <a:latin typeface="Roboto Mono Light"/>
              <a:ea typeface="Roboto Mono Light"/>
              <a:cs typeface="Roboto Mono Light"/>
              <a:sym typeface="Roboto Mono Light"/>
            </a:endParaRPr>
          </a:p>
          <a:p>
            <a:pPr indent="-342900" lvl="0" marL="457200" rtl="0" algn="l">
              <a:spcBef>
                <a:spcPts val="0"/>
              </a:spcBef>
              <a:spcAft>
                <a:spcPts val="0"/>
              </a:spcAft>
              <a:buClr>
                <a:schemeClr val="dk2"/>
              </a:buClr>
              <a:buSzPts val="1800"/>
              <a:buFont typeface="Roboto Mono Light"/>
              <a:buAutoNum type="arabicPeriod"/>
            </a:pPr>
            <a:r>
              <a:rPr lang="en" sz="1800">
                <a:solidFill>
                  <a:schemeClr val="dk2"/>
                </a:solidFill>
                <a:latin typeface="Roboto Mono Light"/>
                <a:ea typeface="Roboto Mono Light"/>
                <a:cs typeface="Roboto Mono Light"/>
                <a:sym typeface="Roboto Mono Light"/>
              </a:rPr>
              <a:t>rm path</a:t>
            </a:r>
            <a:endParaRPr sz="1800">
              <a:solidFill>
                <a:schemeClr val="dk2"/>
              </a:solidFill>
              <a:latin typeface="Roboto Mono Light"/>
              <a:ea typeface="Roboto Mono Light"/>
              <a:cs typeface="Roboto Mono Light"/>
              <a:sym typeface="Roboto Mono Light"/>
            </a:endParaRPr>
          </a:p>
          <a:p>
            <a:pPr indent="-342900" lvl="0" marL="457200" rtl="0" algn="l">
              <a:spcBef>
                <a:spcPts val="0"/>
              </a:spcBef>
              <a:spcAft>
                <a:spcPts val="0"/>
              </a:spcAft>
              <a:buClr>
                <a:schemeClr val="dk2"/>
              </a:buClr>
              <a:buSzPts val="1800"/>
              <a:buFont typeface="Roboto Mono Light"/>
              <a:buAutoNum type="arabicPeriod"/>
            </a:pPr>
            <a:r>
              <a:rPr lang="en" sz="1800">
                <a:solidFill>
                  <a:schemeClr val="dk2"/>
                </a:solidFill>
                <a:latin typeface="Roboto Mono Light"/>
                <a:ea typeface="Roboto Mono Light"/>
                <a:cs typeface="Roboto Mono Light"/>
                <a:sym typeface="Roboto Mono Light"/>
              </a:rPr>
              <a:t>cd</a:t>
            </a:r>
            <a:endParaRPr sz="1800">
              <a:solidFill>
                <a:schemeClr val="dk2"/>
              </a:solidFill>
              <a:latin typeface="Roboto Mono Light"/>
              <a:ea typeface="Roboto Mono Light"/>
              <a:cs typeface="Roboto Mono Light"/>
              <a:sym typeface="Roboto Mono Light"/>
            </a:endParaRPr>
          </a:p>
          <a:p>
            <a:pPr indent="0" lvl="0" marL="457200" rtl="0" algn="l">
              <a:spcBef>
                <a:spcPts val="0"/>
              </a:spcBef>
              <a:spcAft>
                <a:spcPts val="0"/>
              </a:spcAft>
              <a:buNone/>
            </a:pPr>
            <a:r>
              <a:t/>
            </a:r>
            <a:endParaRPr sz="1800">
              <a:solidFill>
                <a:schemeClr val="dk2"/>
              </a:solidFill>
              <a:latin typeface="Roboto Mono Light"/>
              <a:ea typeface="Roboto Mono Light"/>
              <a:cs typeface="Roboto Mono Light"/>
              <a:sym typeface="Roboto Mono Light"/>
            </a:endParaRPr>
          </a:p>
          <a:p>
            <a:pPr indent="0" lvl="0" marL="457200" rtl="0" algn="l">
              <a:spcBef>
                <a:spcPts val="0"/>
              </a:spcBef>
              <a:spcAft>
                <a:spcPts val="0"/>
              </a:spcAft>
              <a:buNone/>
            </a:pPr>
            <a:r>
              <a:rPr lang="en" sz="1800">
                <a:solidFill>
                  <a:schemeClr val="dk2"/>
                </a:solidFill>
                <a:latin typeface="Roboto Mono Light"/>
                <a:ea typeface="Roboto Mono Light"/>
                <a:cs typeface="Roboto Mono Light"/>
                <a:sym typeface="Roboto Mono Light"/>
              </a:rPr>
              <a:t>Relative paths: </a:t>
            </a:r>
            <a:r>
              <a:rPr lang="en" sz="1800">
                <a:solidFill>
                  <a:schemeClr val="dk2"/>
                </a:solidFill>
              </a:rPr>
              <a:t>if you are in the directory</a:t>
            </a:r>
            <a:r>
              <a:rPr lang="en" sz="1800">
                <a:solidFill>
                  <a:schemeClr val="dk2"/>
                </a:solidFill>
                <a:latin typeface="Roboto Mono Light"/>
                <a:ea typeface="Roboto Mono Light"/>
                <a:cs typeface="Roboto Mono Light"/>
                <a:sym typeface="Roboto Mono Light"/>
              </a:rPr>
              <a:t> </a:t>
            </a:r>
            <a:r>
              <a:rPr lang="en" sz="1800">
                <a:solidFill>
                  <a:schemeClr val="dk2"/>
                </a:solidFill>
              </a:rPr>
              <a:t>/home/stud0/aibh_integromics/03_rna_snake/</a:t>
            </a:r>
            <a:endParaRPr sz="1800">
              <a:solidFill>
                <a:schemeClr val="dk2"/>
              </a:solidFill>
            </a:endParaRPr>
          </a:p>
          <a:p>
            <a:pPr indent="0" lvl="0" marL="457200" rtl="0" algn="l">
              <a:spcBef>
                <a:spcPts val="0"/>
              </a:spcBef>
              <a:spcAft>
                <a:spcPts val="0"/>
              </a:spcAft>
              <a:buNone/>
            </a:pPr>
            <a:r>
              <a:rPr lang="en" sz="1800">
                <a:solidFill>
                  <a:schemeClr val="dk2"/>
                </a:solidFill>
              </a:rPr>
              <a:t>you can simply use:  </a:t>
            </a:r>
            <a:r>
              <a:rPr lang="en" sz="1800">
                <a:solidFill>
                  <a:schemeClr val="dk2"/>
                </a:solidFill>
                <a:latin typeface="Roboto Mono Light"/>
                <a:ea typeface="Roboto Mono Light"/>
                <a:cs typeface="Roboto Mono Light"/>
                <a:sym typeface="Roboto Mono Light"/>
              </a:rPr>
              <a:t>Snakefile</a:t>
            </a:r>
            <a:endParaRPr sz="1800">
              <a:solidFill>
                <a:schemeClr val="dk2"/>
              </a:solidFill>
              <a:latin typeface="Roboto Mono Light"/>
              <a:ea typeface="Roboto Mono Light"/>
              <a:cs typeface="Roboto Mono Light"/>
              <a:sym typeface="Roboto Mono Light"/>
            </a:endParaRPr>
          </a:p>
          <a:p>
            <a:pPr indent="0" lvl="0" marL="457200" rtl="0" algn="l">
              <a:spcBef>
                <a:spcPts val="0"/>
              </a:spcBef>
              <a:spcAft>
                <a:spcPts val="0"/>
              </a:spcAft>
              <a:buNone/>
            </a:pPr>
            <a:r>
              <a:t/>
            </a:r>
            <a:endParaRPr sz="1800">
              <a:solidFill>
                <a:schemeClr val="dk2"/>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 sz="1800">
                <a:solidFill>
                  <a:schemeClr val="dk2"/>
                </a:solidFill>
                <a:latin typeface="Roboto Mono Light"/>
                <a:ea typeface="Roboto Mono Light"/>
                <a:cs typeface="Roboto Mono Light"/>
                <a:sym typeface="Roboto Mono Light"/>
              </a:rPr>
              <a:t>Absolute paths: /home/stud0/example</a:t>
            </a:r>
            <a:endParaRPr sz="1800">
              <a:solidFill>
                <a:schemeClr val="dk2"/>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 sz="1800">
                <a:solidFill>
                  <a:schemeClr val="dk2"/>
                </a:solidFill>
              </a:rPr>
              <a:t>or</a:t>
            </a:r>
            <a:r>
              <a:rPr lang="en" sz="1800">
                <a:solidFill>
                  <a:schemeClr val="dk2"/>
                </a:solidFill>
                <a:latin typeface="Roboto Mono Light"/>
                <a:ea typeface="Roboto Mono Light"/>
                <a:cs typeface="Roboto Mono Light"/>
                <a:sym typeface="Roboto Mono Light"/>
              </a:rPr>
              <a:t> /home/stud0/aibh_integromics/03_rna_snake/Snakefile</a:t>
            </a:r>
            <a:endParaRPr sz="1800">
              <a:solidFill>
                <a:schemeClr val="dk2"/>
              </a:solidFill>
              <a:latin typeface="Roboto Mono Light"/>
              <a:ea typeface="Roboto Mono Light"/>
              <a:cs typeface="Roboto Mono Light"/>
              <a:sym typeface="Roboto Mono Light"/>
            </a:endParaRPr>
          </a:p>
          <a:p>
            <a:pPr indent="0" lvl="0" marL="457200" rtl="0" algn="l">
              <a:spcBef>
                <a:spcPts val="0"/>
              </a:spcBef>
              <a:spcAft>
                <a:spcPts val="0"/>
              </a:spcAft>
              <a:buNone/>
            </a:pPr>
            <a:r>
              <a:t/>
            </a:r>
            <a:endParaRPr sz="1800">
              <a:solidFill>
                <a:schemeClr val="dk2"/>
              </a:solidFill>
              <a:latin typeface="Roboto Mono Light"/>
              <a:ea typeface="Roboto Mono Light"/>
              <a:cs typeface="Roboto Mono Light"/>
              <a:sym typeface="Roboto Mon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a:latin typeface="Calibri"/>
                <a:ea typeface="Calibri"/>
                <a:cs typeface="Calibri"/>
                <a:sym typeface="Calibri"/>
              </a:rPr>
              <a:t>RNAseq experiments analysis - main steps</a:t>
            </a:r>
            <a:endParaRPr>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1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latin typeface="Calibri"/>
              <a:ea typeface="Calibri"/>
              <a:cs typeface="Calibri"/>
              <a:sym typeface="Calibri"/>
            </a:endParaRPr>
          </a:p>
          <a:p>
            <a:pPr indent="0" lvl="0" marL="0" rtl="0" algn="l">
              <a:lnSpc>
                <a:spcPct val="100000"/>
              </a:lnSpc>
              <a:spcBef>
                <a:spcPts val="0"/>
              </a:spcBef>
              <a:spcAft>
                <a:spcPts val="0"/>
              </a:spcAft>
              <a:buSzPts val="2800"/>
              <a:buNone/>
            </a:pPr>
            <a:r>
              <a:t/>
            </a:r>
            <a:endParaRPr/>
          </a:p>
        </p:txBody>
      </p:sp>
      <p:sp>
        <p:nvSpPr>
          <p:cNvPr id="109" name="Google Shape;109;p51"/>
          <p:cNvSpPr/>
          <p:nvPr/>
        </p:nvSpPr>
        <p:spPr>
          <a:xfrm>
            <a:off x="5451500" y="1745050"/>
            <a:ext cx="1458900" cy="1047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 name="Google Shape;110;p51"/>
          <p:cNvGrpSpPr/>
          <p:nvPr/>
        </p:nvGrpSpPr>
        <p:grpSpPr>
          <a:xfrm>
            <a:off x="2872830" y="1348323"/>
            <a:ext cx="4310901" cy="3357574"/>
            <a:chOff x="2931425" y="68625"/>
            <a:chExt cx="6212569" cy="4838700"/>
          </a:xfrm>
        </p:grpSpPr>
        <p:grpSp>
          <p:nvGrpSpPr>
            <p:cNvPr id="111" name="Google Shape;111;p51"/>
            <p:cNvGrpSpPr/>
            <p:nvPr/>
          </p:nvGrpSpPr>
          <p:grpSpPr>
            <a:xfrm>
              <a:off x="2931425" y="68625"/>
              <a:ext cx="6212569" cy="4838700"/>
              <a:chOff x="2931425" y="68625"/>
              <a:chExt cx="6212569" cy="4838700"/>
            </a:xfrm>
          </p:grpSpPr>
          <p:grpSp>
            <p:nvGrpSpPr>
              <p:cNvPr id="112" name="Google Shape;112;p51"/>
              <p:cNvGrpSpPr/>
              <p:nvPr/>
            </p:nvGrpSpPr>
            <p:grpSpPr>
              <a:xfrm>
                <a:off x="2931425" y="68625"/>
                <a:ext cx="6212569" cy="4838700"/>
                <a:chOff x="2931425" y="68625"/>
                <a:chExt cx="6212569" cy="4838700"/>
              </a:xfrm>
            </p:grpSpPr>
            <p:pic>
              <p:nvPicPr>
                <p:cNvPr id="113" name="Google Shape;113;p51"/>
                <p:cNvPicPr preferRelativeResize="0"/>
                <p:nvPr/>
              </p:nvPicPr>
              <p:blipFill rotWithShape="1">
                <a:blip r:embed="rId3">
                  <a:alphaModFix/>
                </a:blip>
                <a:srcRect b="0" l="0" r="0" t="0"/>
                <a:stretch/>
              </p:blipFill>
              <p:spPr>
                <a:xfrm>
                  <a:off x="2931425" y="68625"/>
                  <a:ext cx="6212569" cy="4838700"/>
                </a:xfrm>
                <a:prstGeom prst="rect">
                  <a:avLst/>
                </a:prstGeom>
                <a:noFill/>
                <a:ln>
                  <a:noFill/>
                </a:ln>
              </p:spPr>
            </p:pic>
            <p:sp>
              <p:nvSpPr>
                <p:cNvPr id="114" name="Google Shape;114;p51"/>
                <p:cNvSpPr/>
                <p:nvPr/>
              </p:nvSpPr>
              <p:spPr>
                <a:xfrm>
                  <a:off x="3371425" y="307125"/>
                  <a:ext cx="705000" cy="2987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1"/>
                <p:cNvSpPr/>
                <p:nvPr/>
              </p:nvSpPr>
              <p:spPr>
                <a:xfrm>
                  <a:off x="3783250" y="2331375"/>
                  <a:ext cx="1047000" cy="719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 name="Google Shape;116;p51"/>
              <p:cNvSpPr/>
              <p:nvPr/>
            </p:nvSpPr>
            <p:spPr>
              <a:xfrm>
                <a:off x="5261875" y="413575"/>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1"/>
              <p:cNvSpPr/>
              <p:nvPr/>
            </p:nvSpPr>
            <p:spPr>
              <a:xfrm>
                <a:off x="5261875" y="1173250"/>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1"/>
              <p:cNvSpPr/>
              <p:nvPr/>
            </p:nvSpPr>
            <p:spPr>
              <a:xfrm>
                <a:off x="5217675" y="1905000"/>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1"/>
              <p:cNvSpPr/>
              <p:nvPr/>
            </p:nvSpPr>
            <p:spPr>
              <a:xfrm>
                <a:off x="5217675" y="2678650"/>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1"/>
              <p:cNvSpPr/>
              <p:nvPr/>
            </p:nvSpPr>
            <p:spPr>
              <a:xfrm>
                <a:off x="5217675" y="3396425"/>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1"/>
              <p:cNvSpPr/>
              <p:nvPr/>
            </p:nvSpPr>
            <p:spPr>
              <a:xfrm>
                <a:off x="5123425" y="4184050"/>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 name="Google Shape;122;p51"/>
            <p:cNvSpPr/>
            <p:nvPr/>
          </p:nvSpPr>
          <p:spPr>
            <a:xfrm>
              <a:off x="3690175" y="545025"/>
              <a:ext cx="1047000" cy="301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3" name="Google Shape;123;p51"/>
          <p:cNvSpPr/>
          <p:nvPr/>
        </p:nvSpPr>
        <p:spPr>
          <a:xfrm>
            <a:off x="7008102" y="1809521"/>
            <a:ext cx="754500" cy="35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000000"/>
                </a:solidFill>
                <a:latin typeface="Arial"/>
                <a:ea typeface="Arial"/>
                <a:cs typeface="Arial"/>
                <a:sym typeface="Arial"/>
              </a:rPr>
              <a:t>Fastq</a:t>
            </a:r>
            <a:endParaRPr b="1" i="0" sz="600" u="none" cap="none" strike="noStrike">
              <a:solidFill>
                <a:srgbClr val="000000"/>
              </a:solidFill>
              <a:latin typeface="Arial"/>
              <a:ea typeface="Arial"/>
              <a:cs typeface="Arial"/>
              <a:sym typeface="Arial"/>
            </a:endParaRPr>
          </a:p>
        </p:txBody>
      </p:sp>
      <p:sp>
        <p:nvSpPr>
          <p:cNvPr id="124" name="Google Shape;124;p51"/>
          <p:cNvSpPr/>
          <p:nvPr/>
        </p:nvSpPr>
        <p:spPr>
          <a:xfrm>
            <a:off x="7008090" y="2328830"/>
            <a:ext cx="754500" cy="35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000000"/>
                </a:solidFill>
                <a:latin typeface="Arial"/>
                <a:ea typeface="Arial"/>
                <a:cs typeface="Arial"/>
                <a:sym typeface="Arial"/>
              </a:rPr>
              <a:t>SAM/BAM</a:t>
            </a:r>
            <a:endParaRPr b="1" i="0" sz="600" u="none" cap="none" strike="noStrike">
              <a:solidFill>
                <a:srgbClr val="000000"/>
              </a:solidFill>
              <a:latin typeface="Arial"/>
              <a:ea typeface="Arial"/>
              <a:cs typeface="Arial"/>
              <a:sym typeface="Arial"/>
            </a:endParaRPr>
          </a:p>
        </p:txBody>
      </p:sp>
      <p:sp>
        <p:nvSpPr>
          <p:cNvPr id="125" name="Google Shape;125;p51"/>
          <p:cNvSpPr/>
          <p:nvPr/>
        </p:nvSpPr>
        <p:spPr>
          <a:xfrm>
            <a:off x="7008092" y="2848151"/>
            <a:ext cx="754500" cy="35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000000"/>
                </a:solidFill>
                <a:latin typeface="Arial"/>
                <a:ea typeface="Arial"/>
                <a:cs typeface="Arial"/>
                <a:sym typeface="Arial"/>
              </a:rPr>
              <a:t>Count matrix</a:t>
            </a:r>
            <a:endParaRPr b="1" i="0" sz="600" u="none" cap="none" strike="noStrike">
              <a:solidFill>
                <a:srgbClr val="000000"/>
              </a:solidFill>
              <a:latin typeface="Arial"/>
              <a:ea typeface="Arial"/>
              <a:cs typeface="Arial"/>
              <a:sym typeface="Arial"/>
            </a:endParaRPr>
          </a:p>
        </p:txBody>
      </p:sp>
      <p:cxnSp>
        <p:nvCxnSpPr>
          <p:cNvPr id="126" name="Google Shape;126;p51"/>
          <p:cNvCxnSpPr>
            <a:endCxn id="123" idx="1"/>
          </p:cNvCxnSpPr>
          <p:nvPr/>
        </p:nvCxnSpPr>
        <p:spPr>
          <a:xfrm flipH="1" rot="10800000">
            <a:off x="5165802" y="1988471"/>
            <a:ext cx="1842300" cy="3600"/>
          </a:xfrm>
          <a:prstGeom prst="straightConnector1">
            <a:avLst/>
          </a:prstGeom>
          <a:noFill/>
          <a:ln cap="flat" cmpd="sng" w="9525">
            <a:solidFill>
              <a:schemeClr val="dk2"/>
            </a:solidFill>
            <a:prstDash val="solid"/>
            <a:round/>
            <a:headEnd len="sm" w="sm" type="none"/>
            <a:tailEnd len="med" w="med" type="triangle"/>
          </a:ln>
        </p:spPr>
      </p:cxnSp>
      <p:cxnSp>
        <p:nvCxnSpPr>
          <p:cNvPr id="127" name="Google Shape;127;p51"/>
          <p:cNvCxnSpPr/>
          <p:nvPr/>
        </p:nvCxnSpPr>
        <p:spPr>
          <a:xfrm flipH="1" rot="10800000">
            <a:off x="5165802" y="2505971"/>
            <a:ext cx="1842300" cy="3600"/>
          </a:xfrm>
          <a:prstGeom prst="straightConnector1">
            <a:avLst/>
          </a:prstGeom>
          <a:noFill/>
          <a:ln cap="flat" cmpd="sng" w="9525">
            <a:solidFill>
              <a:schemeClr val="dk2"/>
            </a:solidFill>
            <a:prstDash val="solid"/>
            <a:round/>
            <a:headEnd len="sm" w="sm" type="none"/>
            <a:tailEnd len="med" w="med" type="triangle"/>
          </a:ln>
        </p:spPr>
      </p:cxnSp>
      <p:cxnSp>
        <p:nvCxnSpPr>
          <p:cNvPr id="128" name="Google Shape;128;p51"/>
          <p:cNvCxnSpPr/>
          <p:nvPr/>
        </p:nvCxnSpPr>
        <p:spPr>
          <a:xfrm flipH="1" rot="10800000">
            <a:off x="5165802" y="3023471"/>
            <a:ext cx="1842300" cy="3600"/>
          </a:xfrm>
          <a:prstGeom prst="straightConnector1">
            <a:avLst/>
          </a:prstGeom>
          <a:noFill/>
          <a:ln cap="flat" cmpd="sng" w="9525">
            <a:solidFill>
              <a:schemeClr val="dk2"/>
            </a:solidFill>
            <a:prstDash val="solid"/>
            <a:round/>
            <a:headEnd len="sm" w="sm" type="none"/>
            <a:tailEnd len="med" w="med" type="triangle"/>
          </a:ln>
        </p:spPr>
      </p:cxnSp>
      <p:sp>
        <p:nvSpPr>
          <p:cNvPr id="129" name="Google Shape;129;p51"/>
          <p:cNvSpPr/>
          <p:nvPr/>
        </p:nvSpPr>
        <p:spPr>
          <a:xfrm>
            <a:off x="4213675" y="2917925"/>
            <a:ext cx="952200" cy="218400"/>
          </a:xfrm>
          <a:prstGeom prst="rect">
            <a:avLst/>
          </a:prstGeom>
          <a:solidFill>
            <a:srgbClr val="F0ED6C">
              <a:alpha val="5044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51"/>
          <p:cNvSpPr txBox="1"/>
          <p:nvPr/>
        </p:nvSpPr>
        <p:spPr>
          <a:xfrm>
            <a:off x="6516075" y="4757550"/>
            <a:ext cx="425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Thanks to Ivan Molineris!</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5"/>
          <p:cNvSpPr txBox="1"/>
          <p:nvPr>
            <p:ph type="title"/>
          </p:nvPr>
        </p:nvSpPr>
        <p:spPr>
          <a:xfrm>
            <a:off x="-273050" y="199250"/>
            <a:ext cx="6367800" cy="789600"/>
          </a:xfrm>
          <a:prstGeom prst="rect">
            <a:avLst/>
          </a:prstGeom>
          <a:noFill/>
          <a:ln>
            <a:noFill/>
          </a:ln>
        </p:spPr>
        <p:txBody>
          <a:bodyPr anchorCtr="0" anchor="ctr" bIns="91425" lIns="91425" spcFirstLastPara="1" rIns="91425" wrap="square" tIns="91425">
            <a:noAutofit/>
          </a:bodyPr>
          <a:lstStyle/>
          <a:p>
            <a:pPr indent="0" lvl="0" marL="457200" rtl="0" algn="l">
              <a:lnSpc>
                <a:spcPct val="100000"/>
              </a:lnSpc>
              <a:spcBef>
                <a:spcPts val="0"/>
              </a:spcBef>
              <a:spcAft>
                <a:spcPts val="0"/>
              </a:spcAft>
              <a:buSzPts val="4800"/>
              <a:buNone/>
            </a:pPr>
            <a:r>
              <a:rPr lang="en"/>
              <a:t>fastqc</a:t>
            </a:r>
            <a:endParaRPr/>
          </a:p>
        </p:txBody>
      </p:sp>
      <p:sp>
        <p:nvSpPr>
          <p:cNvPr id="136" name="Google Shape;136;p35"/>
          <p:cNvSpPr txBox="1"/>
          <p:nvPr/>
        </p:nvSpPr>
        <p:spPr>
          <a:xfrm>
            <a:off x="2103150" y="154975"/>
            <a:ext cx="8375700" cy="3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Mono"/>
                <a:ea typeface="Roboto Mono"/>
                <a:cs typeface="Roboto Mono"/>
                <a:sym typeface="Roboto Mono"/>
              </a:rPr>
              <a:t>fastqc -o . fastq/sample_a.fastq.gz</a:t>
            </a:r>
            <a:endParaRPr sz="1800">
              <a:solidFill>
                <a:schemeClr val="dk2"/>
              </a:solidFill>
              <a:latin typeface="Roboto Mono"/>
              <a:ea typeface="Roboto Mono"/>
              <a:cs typeface="Roboto Mono"/>
              <a:sym typeface="Roboto Mono"/>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Will generate an html file in the current directory: </a:t>
            </a:r>
            <a:endParaRPr sz="1800">
              <a:solidFill>
                <a:schemeClr val="dk2"/>
              </a:solidFill>
            </a:endParaRPr>
          </a:p>
          <a:p>
            <a:pPr indent="0" lvl="0" marL="0" rtl="0" algn="l">
              <a:spcBef>
                <a:spcPts val="0"/>
              </a:spcBef>
              <a:spcAft>
                <a:spcPts val="0"/>
              </a:spcAft>
              <a:buNone/>
            </a:pPr>
            <a:r>
              <a:rPr lang="en" sz="1800">
                <a:solidFill>
                  <a:schemeClr val="dk2"/>
                </a:solidFill>
              </a:rPr>
              <a:t>sample_a_fastqc.html</a:t>
            </a:r>
            <a:endParaRPr sz="1800">
              <a:solidFill>
                <a:schemeClr val="dk2"/>
              </a:solidFill>
            </a:endParaRPr>
          </a:p>
        </p:txBody>
      </p:sp>
      <p:pic>
        <p:nvPicPr>
          <p:cNvPr id="137" name="Google Shape;137;p35"/>
          <p:cNvPicPr preferRelativeResize="0"/>
          <p:nvPr/>
        </p:nvPicPr>
        <p:blipFill>
          <a:blip r:embed="rId3">
            <a:alphaModFix/>
          </a:blip>
          <a:stretch>
            <a:fillRect/>
          </a:stretch>
        </p:blipFill>
        <p:spPr>
          <a:xfrm>
            <a:off x="0" y="1394642"/>
            <a:ext cx="9144002" cy="37488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p:nvPr/>
        </p:nvSpPr>
        <p:spPr>
          <a:xfrm>
            <a:off x="1119200" y="4557725"/>
            <a:ext cx="2238300" cy="39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7"/>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per base quality scores</a:t>
            </a:r>
            <a:endParaRPr/>
          </a:p>
        </p:txBody>
      </p:sp>
      <p:pic>
        <p:nvPicPr>
          <p:cNvPr id="144" name="Google Shape;144;p37"/>
          <p:cNvPicPr preferRelativeResize="0"/>
          <p:nvPr/>
        </p:nvPicPr>
        <p:blipFill rotWithShape="1">
          <a:blip r:embed="rId3">
            <a:alphaModFix/>
          </a:blip>
          <a:srcRect b="0" l="0" r="0" t="0"/>
          <a:stretch/>
        </p:blipFill>
        <p:spPr>
          <a:xfrm>
            <a:off x="700100" y="1017725"/>
            <a:ext cx="3505826" cy="2629375"/>
          </a:xfrm>
          <a:prstGeom prst="rect">
            <a:avLst/>
          </a:prstGeom>
          <a:noFill/>
          <a:ln>
            <a:noFill/>
          </a:ln>
        </p:spPr>
      </p:pic>
      <p:pic>
        <p:nvPicPr>
          <p:cNvPr id="145" name="Google Shape;145;p37"/>
          <p:cNvPicPr preferRelativeResize="0"/>
          <p:nvPr/>
        </p:nvPicPr>
        <p:blipFill rotWithShape="1">
          <a:blip r:embed="rId4">
            <a:alphaModFix/>
          </a:blip>
          <a:srcRect b="0" l="0" r="0" t="0"/>
          <a:stretch/>
        </p:blipFill>
        <p:spPr>
          <a:xfrm>
            <a:off x="5485775" y="1017725"/>
            <a:ext cx="3505824" cy="2629374"/>
          </a:xfrm>
          <a:prstGeom prst="rect">
            <a:avLst/>
          </a:prstGeom>
          <a:noFill/>
          <a:ln>
            <a:noFill/>
          </a:ln>
        </p:spPr>
      </p:pic>
      <p:sp>
        <p:nvSpPr>
          <p:cNvPr id="146" name="Google Shape;146;p37"/>
          <p:cNvSpPr txBox="1"/>
          <p:nvPr>
            <p:ph idx="1" type="body"/>
          </p:nvPr>
        </p:nvSpPr>
        <p:spPr>
          <a:xfrm>
            <a:off x="692700" y="794825"/>
            <a:ext cx="3999900" cy="31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good</a:t>
            </a:r>
            <a:endParaRPr/>
          </a:p>
        </p:txBody>
      </p:sp>
      <p:sp>
        <p:nvSpPr>
          <p:cNvPr id="147" name="Google Shape;147;p37"/>
          <p:cNvSpPr txBox="1"/>
          <p:nvPr>
            <p:ph idx="2" type="body"/>
          </p:nvPr>
        </p:nvSpPr>
        <p:spPr>
          <a:xfrm>
            <a:off x="5518200" y="794875"/>
            <a:ext cx="3999900" cy="31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bad</a:t>
            </a:r>
            <a:endParaRPr/>
          </a:p>
        </p:txBody>
      </p:sp>
      <p:sp>
        <p:nvSpPr>
          <p:cNvPr id="148" name="Google Shape;148;p37"/>
          <p:cNvSpPr txBox="1"/>
          <p:nvPr/>
        </p:nvSpPr>
        <p:spPr>
          <a:xfrm>
            <a:off x="64875" y="3898575"/>
            <a:ext cx="4350900" cy="1111500"/>
          </a:xfrm>
          <a:prstGeom prst="rect">
            <a:avLst/>
          </a:prstGeom>
          <a:noFill/>
          <a:ln>
            <a:noFill/>
          </a:ln>
        </p:spPr>
        <p:txBody>
          <a:bodyPr anchorCtr="0" anchor="t" bIns="91425" lIns="91425" spcFirstLastPara="1" rIns="91425" wrap="square" tIns="91425">
            <a:normAutofit fontScale="47500"/>
          </a:bodyPr>
          <a:lstStyle/>
          <a:p>
            <a:pPr indent="0" lvl="0" marL="0" marR="0" rtl="0" algn="l">
              <a:lnSpc>
                <a:spcPct val="100000"/>
              </a:lnSpc>
              <a:spcBef>
                <a:spcPts val="0"/>
              </a:spcBef>
              <a:spcAft>
                <a:spcPts val="0"/>
              </a:spcAft>
              <a:buClr>
                <a:schemeClr val="dk1"/>
              </a:buClr>
              <a:buSzPct val="78571"/>
              <a:buFont typeface="Arial"/>
              <a:buNone/>
            </a:pPr>
            <a:r>
              <a:rPr b="0" i="0" lang="en" sz="1400" u="none" cap="none" strike="noStrike">
                <a:solidFill>
                  <a:srgbClr val="000000"/>
                </a:solidFill>
                <a:latin typeface="Arial"/>
                <a:ea typeface="Arial"/>
                <a:cs typeface="Arial"/>
                <a:sym typeface="Arial"/>
              </a:rPr>
              <a:t>For each position a BoxWhisker type plot is drawn.                                   </a:t>
            </a:r>
            <a:r>
              <a:rPr b="0" i="0" lang="en" sz="1400" u="none" cap="none" strike="noStrike">
                <a:solidFill>
                  <a:schemeClr val="dk1"/>
                </a:solidFill>
                <a:latin typeface="Arial"/>
                <a:ea typeface="Arial"/>
                <a:cs typeface="Arial"/>
                <a:sym typeface="Arial"/>
              </a:rPr>
              <a:t>Further reading: </a:t>
            </a:r>
            <a:r>
              <a:rPr b="0" i="0" lang="en" sz="1400" u="sng" cap="none" strike="noStrike">
                <a:solidFill>
                  <a:schemeClr val="accent5"/>
                </a:solidFill>
                <a:latin typeface="Arial"/>
                <a:ea typeface="Arial"/>
                <a:cs typeface="Arial"/>
                <a:sym typeface="Arial"/>
                <a:hlinkClick r:id="rId5">
                  <a:extLst>
                    <a:ext uri="{A12FA001-AC4F-418D-AE19-62706E023703}">
                      <ahyp:hlinkClr val="tx"/>
                    </a:ext>
                  </a:extLst>
                </a:hlinkClick>
              </a:rPr>
              <a:t>statquest-boxplots/</a:t>
            </a:r>
            <a:r>
              <a:rPr b="0" i="0" lang="en" sz="1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central red line is the median value</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yellow box represents the inter-quartile range (25-75%)</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upper and lower whiskers represent the 10% and 90% points</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blue line represents the mean quality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0" i="0" lang="en" sz="1400" u="none" cap="none" strike="noStrike">
                <a:solidFill>
                  <a:srgbClr val="000000"/>
                </a:solidFill>
                <a:latin typeface="Arial"/>
                <a:ea typeface="Arial"/>
                <a:cs typeface="Arial"/>
                <a:sym typeface="Arial"/>
              </a:rPr>
              <a:t>In RNA-seq some sequencing error are no a big deal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0" i="0" lang="en" sz="1400" u="none" cap="none" strike="noStrike">
                <a:solidFill>
                  <a:srgbClr val="000000"/>
                </a:solidFill>
                <a:latin typeface="Arial"/>
                <a:ea typeface="Arial"/>
                <a:cs typeface="Arial"/>
                <a:sym typeface="Arial"/>
              </a:rPr>
              <a:t>In variant calling much more delicate question!</a:t>
            </a:r>
            <a:endParaRPr b="0" i="0" sz="1400" u="none" cap="none" strike="noStrike">
              <a:solidFill>
                <a:srgbClr val="000000"/>
              </a:solidFill>
              <a:latin typeface="Arial"/>
              <a:ea typeface="Arial"/>
              <a:cs typeface="Arial"/>
              <a:sym typeface="Arial"/>
            </a:endParaRPr>
          </a:p>
        </p:txBody>
      </p:sp>
      <p:pic>
        <p:nvPicPr>
          <p:cNvPr id="149" name="Google Shape;149;p37"/>
          <p:cNvPicPr preferRelativeResize="0"/>
          <p:nvPr/>
        </p:nvPicPr>
        <p:blipFill rotWithShape="1">
          <a:blip r:embed="rId6">
            <a:alphaModFix/>
          </a:blip>
          <a:srcRect b="0" l="0" r="0" t="51756"/>
          <a:stretch/>
        </p:blipFill>
        <p:spPr>
          <a:xfrm>
            <a:off x="6245100" y="3824865"/>
            <a:ext cx="2064921" cy="1054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8"/>
          <p:cNvSpPr/>
          <p:nvPr/>
        </p:nvSpPr>
        <p:spPr>
          <a:xfrm>
            <a:off x="1119200" y="4557725"/>
            <a:ext cx="2238300" cy="39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8"/>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per base quality scores</a:t>
            </a:r>
            <a:endParaRPr/>
          </a:p>
        </p:txBody>
      </p:sp>
      <p:pic>
        <p:nvPicPr>
          <p:cNvPr id="156" name="Google Shape;156;p38"/>
          <p:cNvPicPr preferRelativeResize="0"/>
          <p:nvPr/>
        </p:nvPicPr>
        <p:blipFill rotWithShape="1">
          <a:blip r:embed="rId3">
            <a:alphaModFix/>
          </a:blip>
          <a:srcRect b="0" l="0" r="0" t="0"/>
          <a:stretch/>
        </p:blipFill>
        <p:spPr>
          <a:xfrm>
            <a:off x="700100" y="1017725"/>
            <a:ext cx="3505826" cy="2629375"/>
          </a:xfrm>
          <a:prstGeom prst="rect">
            <a:avLst/>
          </a:prstGeom>
          <a:noFill/>
          <a:ln>
            <a:noFill/>
          </a:ln>
        </p:spPr>
      </p:pic>
      <p:pic>
        <p:nvPicPr>
          <p:cNvPr id="157" name="Google Shape;157;p38"/>
          <p:cNvPicPr preferRelativeResize="0"/>
          <p:nvPr/>
        </p:nvPicPr>
        <p:blipFill rotWithShape="1">
          <a:blip r:embed="rId4">
            <a:alphaModFix/>
          </a:blip>
          <a:srcRect b="0" l="0" r="0" t="0"/>
          <a:stretch/>
        </p:blipFill>
        <p:spPr>
          <a:xfrm>
            <a:off x="5485775" y="1017725"/>
            <a:ext cx="3505824" cy="2629374"/>
          </a:xfrm>
          <a:prstGeom prst="rect">
            <a:avLst/>
          </a:prstGeom>
          <a:noFill/>
          <a:ln>
            <a:noFill/>
          </a:ln>
        </p:spPr>
      </p:pic>
      <p:sp>
        <p:nvSpPr>
          <p:cNvPr id="158" name="Google Shape;158;p38"/>
          <p:cNvSpPr txBox="1"/>
          <p:nvPr>
            <p:ph idx="1" type="body"/>
          </p:nvPr>
        </p:nvSpPr>
        <p:spPr>
          <a:xfrm>
            <a:off x="692700" y="794825"/>
            <a:ext cx="3999900" cy="31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good</a:t>
            </a:r>
            <a:endParaRPr/>
          </a:p>
        </p:txBody>
      </p:sp>
      <p:sp>
        <p:nvSpPr>
          <p:cNvPr id="159" name="Google Shape;159;p38"/>
          <p:cNvSpPr txBox="1"/>
          <p:nvPr>
            <p:ph idx="2" type="body"/>
          </p:nvPr>
        </p:nvSpPr>
        <p:spPr>
          <a:xfrm>
            <a:off x="5518200" y="794875"/>
            <a:ext cx="3999900" cy="31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bad</a:t>
            </a:r>
            <a:endParaRPr/>
          </a:p>
        </p:txBody>
      </p:sp>
      <p:sp>
        <p:nvSpPr>
          <p:cNvPr id="160" name="Google Shape;160;p38"/>
          <p:cNvSpPr txBox="1"/>
          <p:nvPr/>
        </p:nvSpPr>
        <p:spPr>
          <a:xfrm>
            <a:off x="64875" y="3898575"/>
            <a:ext cx="4350900" cy="1111500"/>
          </a:xfrm>
          <a:prstGeom prst="rect">
            <a:avLst/>
          </a:prstGeom>
          <a:noFill/>
          <a:ln>
            <a:noFill/>
          </a:ln>
        </p:spPr>
        <p:txBody>
          <a:bodyPr anchorCtr="0" anchor="t" bIns="91425" lIns="91425" spcFirstLastPara="1" rIns="91425" wrap="square" tIns="91425">
            <a:normAutofit fontScale="47500"/>
          </a:bodyPr>
          <a:lstStyle/>
          <a:p>
            <a:pPr indent="0" lvl="0" marL="0" marR="0" rtl="0" algn="l">
              <a:lnSpc>
                <a:spcPct val="100000"/>
              </a:lnSpc>
              <a:spcBef>
                <a:spcPts val="0"/>
              </a:spcBef>
              <a:spcAft>
                <a:spcPts val="0"/>
              </a:spcAft>
              <a:buClr>
                <a:schemeClr val="dk1"/>
              </a:buClr>
              <a:buSzPct val="78571"/>
              <a:buFont typeface="Arial"/>
              <a:buNone/>
            </a:pPr>
            <a:r>
              <a:rPr b="0" i="0" lang="en" sz="1400" u="none" cap="none" strike="noStrike">
                <a:solidFill>
                  <a:srgbClr val="000000"/>
                </a:solidFill>
                <a:latin typeface="Arial"/>
                <a:ea typeface="Arial"/>
                <a:cs typeface="Arial"/>
                <a:sym typeface="Arial"/>
              </a:rPr>
              <a:t>For each position a BoxWhisker type plot is drawn.                                   </a:t>
            </a:r>
            <a:r>
              <a:rPr b="0" i="0" lang="en" sz="1400" u="none" cap="none" strike="noStrike">
                <a:solidFill>
                  <a:schemeClr val="dk1"/>
                </a:solidFill>
                <a:latin typeface="Arial"/>
                <a:ea typeface="Arial"/>
                <a:cs typeface="Arial"/>
                <a:sym typeface="Arial"/>
              </a:rPr>
              <a:t>Further reading: </a:t>
            </a:r>
            <a:r>
              <a:rPr b="0" i="0" lang="en" sz="1400" u="sng" cap="none" strike="noStrike">
                <a:solidFill>
                  <a:schemeClr val="accent5"/>
                </a:solidFill>
                <a:latin typeface="Arial"/>
                <a:ea typeface="Arial"/>
                <a:cs typeface="Arial"/>
                <a:sym typeface="Arial"/>
                <a:hlinkClick r:id="rId5">
                  <a:extLst>
                    <a:ext uri="{A12FA001-AC4F-418D-AE19-62706E023703}">
                      <ahyp:hlinkClr val="tx"/>
                    </a:ext>
                  </a:extLst>
                </a:hlinkClick>
              </a:rPr>
              <a:t>statquest-boxplots/</a:t>
            </a:r>
            <a:r>
              <a:rPr b="0" i="0" lang="en" sz="1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central red line is the median value</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yellow box represents the inter-quartile range (25-75%)</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upper and lower whiskers represent the 10% and 90% points</a:t>
            </a:r>
            <a:endParaRPr b="0" i="0" sz="1400" u="none" cap="none" strike="noStrike">
              <a:solidFill>
                <a:srgbClr val="000000"/>
              </a:solidFill>
              <a:latin typeface="Arial"/>
              <a:ea typeface="Arial"/>
              <a:cs typeface="Arial"/>
              <a:sym typeface="Arial"/>
            </a:endParaRPr>
          </a:p>
          <a:p>
            <a:pPr indent="-270826" lvl="0" marL="457200" marR="0" rtl="0" algn="l">
              <a:lnSpc>
                <a:spcPct val="100000"/>
              </a:lnSpc>
              <a:spcBef>
                <a:spcPts val="0"/>
              </a:spcBef>
              <a:spcAft>
                <a:spcPts val="0"/>
              </a:spcAft>
              <a:buClr>
                <a:srgbClr val="000000"/>
              </a:buClr>
              <a:buSzPct val="100000"/>
              <a:buFont typeface="Arial"/>
              <a:buChar char="●"/>
            </a:pPr>
            <a:r>
              <a:rPr b="0" i="0" lang="en" sz="1400" u="none" cap="none" strike="noStrike">
                <a:solidFill>
                  <a:srgbClr val="000000"/>
                </a:solidFill>
                <a:latin typeface="Arial"/>
                <a:ea typeface="Arial"/>
                <a:cs typeface="Arial"/>
                <a:sym typeface="Arial"/>
              </a:rPr>
              <a:t>The blue line represents the mean quality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0" i="0" lang="en" sz="1400" u="none" cap="none" strike="noStrike">
                <a:solidFill>
                  <a:srgbClr val="000000"/>
                </a:solidFill>
                <a:latin typeface="Arial"/>
                <a:ea typeface="Arial"/>
                <a:cs typeface="Arial"/>
                <a:sym typeface="Arial"/>
              </a:rPr>
              <a:t>In RNA-seq some sequencing error are no a big deal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0" i="0" lang="en" sz="1400" u="none" cap="none" strike="noStrike">
                <a:solidFill>
                  <a:srgbClr val="000000"/>
                </a:solidFill>
                <a:latin typeface="Arial"/>
                <a:ea typeface="Arial"/>
                <a:cs typeface="Arial"/>
                <a:sym typeface="Arial"/>
              </a:rPr>
              <a:t>In variant calling much more delicate question!</a:t>
            </a:r>
            <a:endParaRPr b="0" i="0" sz="1400" u="none" cap="none" strike="noStrike">
              <a:solidFill>
                <a:srgbClr val="000000"/>
              </a:solidFill>
              <a:latin typeface="Arial"/>
              <a:ea typeface="Arial"/>
              <a:cs typeface="Arial"/>
              <a:sym typeface="Arial"/>
            </a:endParaRPr>
          </a:p>
        </p:txBody>
      </p:sp>
      <p:pic>
        <p:nvPicPr>
          <p:cNvPr id="161" name="Google Shape;161;p38"/>
          <p:cNvPicPr preferRelativeResize="0"/>
          <p:nvPr/>
        </p:nvPicPr>
        <p:blipFill rotWithShape="1">
          <a:blip r:embed="rId6">
            <a:alphaModFix/>
          </a:blip>
          <a:srcRect b="0" l="0" r="0" t="22738"/>
          <a:stretch/>
        </p:blipFill>
        <p:spPr>
          <a:xfrm>
            <a:off x="5381343" y="3959225"/>
            <a:ext cx="2082869" cy="907200"/>
          </a:xfrm>
          <a:prstGeom prst="rect">
            <a:avLst/>
          </a:prstGeom>
          <a:noFill/>
          <a:ln>
            <a:noFill/>
          </a:ln>
        </p:spPr>
      </p:pic>
      <p:pic>
        <p:nvPicPr>
          <p:cNvPr id="162" name="Google Shape;162;p38"/>
          <p:cNvPicPr preferRelativeResize="0"/>
          <p:nvPr/>
        </p:nvPicPr>
        <p:blipFill rotWithShape="1">
          <a:blip r:embed="rId7">
            <a:alphaModFix/>
          </a:blip>
          <a:srcRect b="0" l="28579" r="25458" t="65137"/>
          <a:stretch/>
        </p:blipFill>
        <p:spPr>
          <a:xfrm>
            <a:off x="7733278" y="3900362"/>
            <a:ext cx="1099022" cy="10249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9"/>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per sequence quality scores</a:t>
            </a:r>
            <a:endParaRPr/>
          </a:p>
        </p:txBody>
      </p:sp>
      <p:sp>
        <p:nvSpPr>
          <p:cNvPr id="168" name="Google Shape;168;p3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good</a:t>
            </a:r>
            <a:endParaRPr/>
          </a:p>
        </p:txBody>
      </p:sp>
      <p:sp>
        <p:nvSpPr>
          <p:cNvPr id="169" name="Google Shape;169;p39"/>
          <p:cNvSpPr txBox="1"/>
          <p:nvPr>
            <p:ph idx="2" type="body"/>
          </p:nvPr>
        </p:nvSpPr>
        <p:spPr>
          <a:xfrm>
            <a:off x="50610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bad</a:t>
            </a:r>
            <a:endParaRPr/>
          </a:p>
        </p:txBody>
      </p:sp>
      <p:pic>
        <p:nvPicPr>
          <p:cNvPr id="170" name="Google Shape;170;p39"/>
          <p:cNvPicPr preferRelativeResize="0"/>
          <p:nvPr/>
        </p:nvPicPr>
        <p:blipFill rotWithShape="1">
          <a:blip r:embed="rId3">
            <a:alphaModFix/>
          </a:blip>
          <a:srcRect b="0" l="0" r="0" t="0"/>
          <a:stretch/>
        </p:blipFill>
        <p:spPr>
          <a:xfrm>
            <a:off x="311700" y="1651975"/>
            <a:ext cx="3999900" cy="2999925"/>
          </a:xfrm>
          <a:prstGeom prst="rect">
            <a:avLst/>
          </a:prstGeom>
          <a:noFill/>
          <a:ln>
            <a:noFill/>
          </a:ln>
        </p:spPr>
      </p:pic>
      <p:pic>
        <p:nvPicPr>
          <p:cNvPr id="171" name="Google Shape;171;p39"/>
          <p:cNvPicPr preferRelativeResize="0"/>
          <p:nvPr/>
        </p:nvPicPr>
        <p:blipFill rotWithShape="1">
          <a:blip r:embed="rId4">
            <a:alphaModFix/>
          </a:blip>
          <a:srcRect b="0" l="0" r="0" t="0"/>
          <a:stretch/>
        </p:blipFill>
        <p:spPr>
          <a:xfrm>
            <a:off x="4839300" y="1651975"/>
            <a:ext cx="3999900" cy="29999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0"/>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per tile quality scores</a:t>
            </a:r>
            <a:endParaRPr/>
          </a:p>
        </p:txBody>
      </p:sp>
      <p:sp>
        <p:nvSpPr>
          <p:cNvPr id="177" name="Google Shape;177;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good</a:t>
            </a:r>
            <a:endParaRPr/>
          </a:p>
        </p:txBody>
      </p:sp>
      <p:sp>
        <p:nvSpPr>
          <p:cNvPr id="178" name="Google Shape;178;p40"/>
          <p:cNvSpPr txBox="1"/>
          <p:nvPr>
            <p:ph idx="2" type="body"/>
          </p:nvPr>
        </p:nvSpPr>
        <p:spPr>
          <a:xfrm>
            <a:off x="50610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a:t>bad</a:t>
            </a:r>
            <a:endParaRPr/>
          </a:p>
        </p:txBody>
      </p:sp>
      <p:pic>
        <p:nvPicPr>
          <p:cNvPr id="179" name="Google Shape;179;p40"/>
          <p:cNvPicPr preferRelativeResize="0"/>
          <p:nvPr/>
        </p:nvPicPr>
        <p:blipFill rotWithShape="1">
          <a:blip r:embed="rId3">
            <a:alphaModFix/>
          </a:blip>
          <a:srcRect b="0" l="0" r="0" t="0"/>
          <a:stretch/>
        </p:blipFill>
        <p:spPr>
          <a:xfrm>
            <a:off x="152400" y="1627325"/>
            <a:ext cx="4053526" cy="3040145"/>
          </a:xfrm>
          <a:prstGeom prst="rect">
            <a:avLst/>
          </a:prstGeom>
          <a:noFill/>
          <a:ln>
            <a:noFill/>
          </a:ln>
        </p:spPr>
      </p:pic>
      <p:pic>
        <p:nvPicPr>
          <p:cNvPr id="180" name="Google Shape;180;p40"/>
          <p:cNvPicPr preferRelativeResize="0"/>
          <p:nvPr/>
        </p:nvPicPr>
        <p:blipFill rotWithShape="1">
          <a:blip r:embed="rId4">
            <a:alphaModFix/>
          </a:blip>
          <a:srcRect b="0" l="0" r="0" t="0"/>
          <a:stretch/>
        </p:blipFill>
        <p:spPr>
          <a:xfrm>
            <a:off x="4938075" y="1651975"/>
            <a:ext cx="3999900" cy="2999925"/>
          </a:xfrm>
          <a:prstGeom prst="rect">
            <a:avLst/>
          </a:prstGeom>
          <a:noFill/>
          <a:ln>
            <a:noFill/>
          </a:ln>
        </p:spPr>
      </p:pic>
      <p:pic>
        <p:nvPicPr>
          <p:cNvPr id="181" name="Google Shape;181;p40"/>
          <p:cNvPicPr preferRelativeResize="0"/>
          <p:nvPr/>
        </p:nvPicPr>
        <p:blipFill rotWithShape="1">
          <a:blip r:embed="rId5">
            <a:alphaModFix/>
          </a:blip>
          <a:srcRect b="48647" l="28614" r="2666" t="13518"/>
          <a:stretch/>
        </p:blipFill>
        <p:spPr>
          <a:xfrm>
            <a:off x="5648100" y="48675"/>
            <a:ext cx="3289876" cy="1103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1"/>
          <p:cNvSpPr txBox="1"/>
          <p:nvPr>
            <p:ph type="title"/>
          </p:nvPr>
        </p:nvSpPr>
        <p:spPr>
          <a:xfrm>
            <a:off x="69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a:t>
            </a:r>
            <a:r>
              <a:rPr lang="en" sz="2100"/>
              <a:t>per base sequence content</a:t>
            </a:r>
            <a:endParaRPr sz="2100"/>
          </a:p>
        </p:txBody>
      </p:sp>
      <p:sp>
        <p:nvSpPr>
          <p:cNvPr id="187" name="Google Shape;187;p41"/>
          <p:cNvSpPr txBox="1"/>
          <p:nvPr/>
        </p:nvSpPr>
        <p:spPr>
          <a:xfrm>
            <a:off x="4423800" y="0"/>
            <a:ext cx="4720200" cy="5143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Random fragmentation + random priming:</a:t>
            </a:r>
            <a:endParaRPr b="0" i="0" sz="1200" u="none" cap="none" strike="noStrike">
              <a:solidFill>
                <a:srgbClr val="333333"/>
              </a:solidFill>
              <a:highlight>
                <a:srgbClr val="FFFFFF"/>
              </a:highlight>
              <a:latin typeface="Arial"/>
              <a:ea typeface="Arial"/>
              <a:cs typeface="Arial"/>
              <a:sym typeface="Arial"/>
            </a:endParaRPr>
          </a:p>
          <a:p>
            <a:pPr indent="-304800" lvl="1" marL="9144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there should be no reason to expect that the base composition in a given cycle should be different to any other.</a:t>
            </a:r>
            <a:endParaRPr b="0" i="0" sz="1200" u="none" cap="none" strike="noStrike">
              <a:solidFill>
                <a:srgbClr val="333333"/>
              </a:solidFill>
              <a:highlight>
                <a:srgbClr val="FFFFFF"/>
              </a:highlight>
              <a:latin typeface="Arial"/>
              <a:ea typeface="Arial"/>
              <a:cs typeface="Arial"/>
              <a:sym typeface="Arial"/>
            </a:endParaRPr>
          </a:p>
          <a:p>
            <a:pPr indent="-304800" lvl="0" marL="4572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The overall composition of the library might different between runs (e.g. GC content of the source species), but these should affect all cycles equally.</a:t>
            </a:r>
            <a:endParaRPr b="0" i="0" sz="1200" u="none" cap="none" strike="noStrike">
              <a:solidFill>
                <a:srgbClr val="333333"/>
              </a:solidFill>
              <a:highlight>
                <a:srgbClr val="FFFFFF"/>
              </a:highlight>
              <a:latin typeface="Arial"/>
              <a:ea typeface="Arial"/>
              <a:cs typeface="Arial"/>
              <a:sym typeface="Arial"/>
            </a:endParaRPr>
          </a:p>
          <a:p>
            <a:pPr indent="-304800" lvl="0" marL="4572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The plot shows biased sequence in the first ~12 bases of the run.</a:t>
            </a:r>
            <a:endParaRPr b="0" i="0" sz="1200" u="none" cap="none" strike="noStrike">
              <a:solidFill>
                <a:srgbClr val="333333"/>
              </a:solidFill>
              <a:highlight>
                <a:srgbClr val="FFFFFF"/>
              </a:highlight>
              <a:latin typeface="Arial"/>
              <a:ea typeface="Arial"/>
              <a:cs typeface="Arial"/>
              <a:sym typeface="Arial"/>
            </a:endParaRPr>
          </a:p>
          <a:p>
            <a:pPr indent="-304800" lvl="1" marL="9144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The rest of the run shows the expected parallel tracks in the base content for each base (AT rich sequences)</a:t>
            </a:r>
            <a:endParaRPr b="0" i="0" sz="1200" u="none" cap="none" strike="noStrike">
              <a:solidFill>
                <a:srgbClr val="333333"/>
              </a:solidFill>
              <a:highlight>
                <a:srgbClr val="FFFFFF"/>
              </a:highlight>
              <a:latin typeface="Arial"/>
              <a:ea typeface="Arial"/>
              <a:cs typeface="Arial"/>
              <a:sym typeface="Arial"/>
            </a:endParaRPr>
          </a:p>
          <a:p>
            <a:pPr indent="-304800" lvl="0" marL="4572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This happens in pretty much all RNA-Seq libraries.</a:t>
            </a:r>
            <a:endParaRPr b="0" i="0" sz="1200" u="none" cap="none" strike="noStrike">
              <a:solidFill>
                <a:srgbClr val="333333"/>
              </a:solidFill>
              <a:highlight>
                <a:srgbClr val="FFFFFF"/>
              </a:highlight>
              <a:latin typeface="Arial"/>
              <a:ea typeface="Arial"/>
              <a:cs typeface="Arial"/>
              <a:sym typeface="Arial"/>
            </a:endParaRPr>
          </a:p>
          <a:p>
            <a:pPr indent="-304800" lvl="0" marL="4572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The priming should be driven by a selection of random hexamers which in theory should:</a:t>
            </a:r>
            <a:endParaRPr b="0" i="0" sz="1200" u="none" cap="none" strike="noStrike">
              <a:solidFill>
                <a:srgbClr val="333333"/>
              </a:solidFill>
              <a:highlight>
                <a:srgbClr val="FFFFFF"/>
              </a:highlight>
              <a:latin typeface="Arial"/>
              <a:ea typeface="Arial"/>
              <a:cs typeface="Arial"/>
              <a:sym typeface="Arial"/>
            </a:endParaRPr>
          </a:p>
          <a:p>
            <a:pPr indent="-304800" lvl="1" marL="9144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all be present with equal frequency in the priming mix</a:t>
            </a:r>
            <a:endParaRPr b="0" i="0" sz="1200" u="none" cap="none" strike="noStrike">
              <a:solidFill>
                <a:srgbClr val="333333"/>
              </a:solidFill>
              <a:highlight>
                <a:srgbClr val="FFFFFF"/>
              </a:highlight>
              <a:latin typeface="Arial"/>
              <a:ea typeface="Arial"/>
              <a:cs typeface="Arial"/>
              <a:sym typeface="Arial"/>
            </a:endParaRPr>
          </a:p>
          <a:p>
            <a:pPr indent="-304800" lvl="1" marL="914400" marR="0" rtl="0" algn="l">
              <a:lnSpc>
                <a:spcPct val="100000"/>
              </a:lnSpc>
              <a:spcBef>
                <a:spcPts val="1000"/>
              </a:spcBef>
              <a:spcAft>
                <a:spcPts val="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all prime with equal efficiency. </a:t>
            </a:r>
            <a:endParaRPr b="0" i="0" sz="1200" u="none" cap="none" strike="noStrike">
              <a:solidFill>
                <a:srgbClr val="333333"/>
              </a:solidFill>
              <a:highlight>
                <a:srgbClr val="FFFFFF"/>
              </a:highlight>
              <a:latin typeface="Arial"/>
              <a:ea typeface="Arial"/>
              <a:cs typeface="Arial"/>
              <a:sym typeface="Arial"/>
            </a:endParaRPr>
          </a:p>
          <a:p>
            <a:pPr indent="-304800" lvl="0" marL="457200" marR="0" rtl="0" algn="l">
              <a:lnSpc>
                <a:spcPct val="100000"/>
              </a:lnSpc>
              <a:spcBef>
                <a:spcPts val="1000"/>
              </a:spcBef>
              <a:spcAft>
                <a:spcPts val="1000"/>
              </a:spcAft>
              <a:buClr>
                <a:srgbClr val="333333"/>
              </a:buClr>
              <a:buSzPts val="1200"/>
              <a:buFont typeface="Arial"/>
              <a:buChar char="●"/>
            </a:pPr>
            <a:r>
              <a:rPr b="0" i="0" lang="en" sz="1200" u="none" cap="none" strike="noStrike">
                <a:solidFill>
                  <a:srgbClr val="333333"/>
                </a:solidFill>
                <a:highlight>
                  <a:srgbClr val="FFFFFF"/>
                </a:highlight>
                <a:latin typeface="Arial"/>
                <a:ea typeface="Arial"/>
                <a:cs typeface="Arial"/>
                <a:sym typeface="Arial"/>
              </a:rPr>
              <a:t>In the real world certain hexamers are favoured, resulting in the </a:t>
            </a:r>
            <a:r>
              <a:rPr lang="en" sz="1200">
                <a:solidFill>
                  <a:srgbClr val="333333"/>
                </a:solidFill>
                <a:highlight>
                  <a:srgbClr val="FFFFFF"/>
                </a:highlight>
              </a:rPr>
              <a:t>initial bias</a:t>
            </a:r>
            <a:endParaRPr b="0" i="0" sz="1200" u="none" cap="none" strike="noStrike">
              <a:solidFill>
                <a:srgbClr val="333333"/>
              </a:solidFill>
              <a:highlight>
                <a:srgbClr val="FFFFFF"/>
              </a:highlight>
              <a:latin typeface="Arial"/>
              <a:ea typeface="Arial"/>
              <a:cs typeface="Arial"/>
              <a:sym typeface="Arial"/>
            </a:endParaRPr>
          </a:p>
        </p:txBody>
      </p:sp>
      <p:pic>
        <p:nvPicPr>
          <p:cNvPr id="188" name="Google Shape;188;p41"/>
          <p:cNvPicPr preferRelativeResize="0"/>
          <p:nvPr/>
        </p:nvPicPr>
        <p:blipFill>
          <a:blip r:embed="rId3">
            <a:alphaModFix/>
          </a:blip>
          <a:stretch>
            <a:fillRect/>
          </a:stretch>
        </p:blipFill>
        <p:spPr>
          <a:xfrm>
            <a:off x="202925" y="875275"/>
            <a:ext cx="4118999" cy="2995101"/>
          </a:xfrm>
          <a:prstGeom prst="rect">
            <a:avLst/>
          </a:prstGeom>
          <a:noFill/>
          <a:ln>
            <a:noFill/>
          </a:ln>
        </p:spPr>
      </p:pic>
      <p:sp>
        <p:nvSpPr>
          <p:cNvPr id="189" name="Google Shape;189;p41"/>
          <p:cNvSpPr txBox="1"/>
          <p:nvPr/>
        </p:nvSpPr>
        <p:spPr>
          <a:xfrm>
            <a:off x="85425" y="4758600"/>
            <a:ext cx="7124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https://sequencing.qcfail.com/articles/positional-sequence-bias-in-random-primed-libraries/</a:t>
            </a:r>
            <a:endParaRPr sz="13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2"/>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fastqc: </a:t>
            </a:r>
            <a:r>
              <a:rPr lang="en" sz="2100"/>
              <a:t>per base sequence content</a:t>
            </a:r>
            <a:endParaRPr sz="2100"/>
          </a:p>
          <a:p>
            <a:pPr indent="0" lvl="0" marL="0" rtl="0" algn="l">
              <a:lnSpc>
                <a:spcPct val="100000"/>
              </a:lnSpc>
              <a:spcBef>
                <a:spcPts val="0"/>
              </a:spcBef>
              <a:spcAft>
                <a:spcPts val="0"/>
              </a:spcAft>
              <a:buSzPts val="2800"/>
              <a:buNone/>
            </a:pPr>
            <a:r>
              <a:t/>
            </a:r>
            <a:endParaRPr/>
          </a:p>
        </p:txBody>
      </p:sp>
      <p:sp>
        <p:nvSpPr>
          <p:cNvPr id="195" name="Google Shape;195;p42"/>
          <p:cNvSpPr txBox="1"/>
          <p:nvPr/>
        </p:nvSpPr>
        <p:spPr>
          <a:xfrm>
            <a:off x="4423800" y="1162075"/>
            <a:ext cx="4720200" cy="3981300"/>
          </a:xfrm>
          <a:prstGeom prst="rect">
            <a:avLst/>
          </a:prstGeom>
          <a:noFill/>
          <a:ln>
            <a:noFill/>
          </a:ln>
        </p:spPr>
        <p:txBody>
          <a:bodyPr anchorCtr="0" anchor="t" bIns="91425" lIns="91425" spcFirstLastPara="1" rIns="91425" wrap="square" tIns="91425">
            <a:noAutofit/>
          </a:bodyPr>
          <a:lstStyle/>
          <a:p>
            <a:pPr indent="-285750" lvl="0" marL="457200" marR="0" rtl="0" algn="l">
              <a:lnSpc>
                <a:spcPct val="100000"/>
              </a:lnSpc>
              <a:spcBef>
                <a:spcPts val="0"/>
              </a:spcBef>
              <a:spcAft>
                <a:spcPts val="0"/>
              </a:spcAft>
              <a:buClr>
                <a:srgbClr val="333333"/>
              </a:buClr>
              <a:buSzPts val="900"/>
              <a:buFont typeface="Arial"/>
              <a:buChar char="●"/>
            </a:pPr>
            <a:r>
              <a:rPr b="0" i="0" lang="en" sz="1200" u="none" cap="none" strike="noStrike">
                <a:solidFill>
                  <a:srgbClr val="333333"/>
                </a:solidFill>
                <a:highlight>
                  <a:srgbClr val="FFFFFF"/>
                </a:highlight>
                <a:latin typeface="Arial"/>
                <a:ea typeface="Arial"/>
                <a:cs typeface="Arial"/>
                <a:sym typeface="Arial"/>
              </a:rPr>
              <a:t>A strong bias would result in a very uneven coverage of different parts of a transcript based on its sequence content.</a:t>
            </a:r>
            <a:endParaRPr b="0" i="0" sz="1200" u="none" cap="none" strike="noStrike">
              <a:solidFill>
                <a:srgbClr val="333333"/>
              </a:solidFill>
              <a:highlight>
                <a:srgbClr val="FFFFFF"/>
              </a:highlight>
              <a:latin typeface="Arial"/>
              <a:ea typeface="Arial"/>
              <a:cs typeface="Arial"/>
              <a:sym typeface="Arial"/>
            </a:endParaRPr>
          </a:p>
          <a:p>
            <a:pPr indent="-285750" lvl="0" marL="457200" marR="0" rtl="0" algn="l">
              <a:lnSpc>
                <a:spcPct val="100000"/>
              </a:lnSpc>
              <a:spcBef>
                <a:spcPts val="1000"/>
              </a:spcBef>
              <a:spcAft>
                <a:spcPts val="0"/>
              </a:spcAft>
              <a:buClr>
                <a:srgbClr val="333333"/>
              </a:buClr>
              <a:buSzPts val="900"/>
              <a:buFont typeface="Arial"/>
              <a:buChar char="●"/>
            </a:pPr>
            <a:r>
              <a:rPr b="0" i="0" lang="en" sz="1200" u="none" cap="none" strike="noStrike">
                <a:solidFill>
                  <a:srgbClr val="333333"/>
                </a:solidFill>
                <a:highlight>
                  <a:srgbClr val="FFFFFF"/>
                </a:highlight>
                <a:latin typeface="Arial"/>
                <a:ea typeface="Arial"/>
                <a:cs typeface="Arial"/>
                <a:sym typeface="Arial"/>
              </a:rPr>
              <a:t>Most RNA-Seq libraries do not show these types of localised biases.</a:t>
            </a:r>
            <a:endParaRPr b="0" i="0" sz="1200" u="none" cap="none" strike="noStrike">
              <a:solidFill>
                <a:srgbClr val="333333"/>
              </a:solidFill>
              <a:highlight>
                <a:srgbClr val="FFFFFF"/>
              </a:highlight>
              <a:latin typeface="Arial"/>
              <a:ea typeface="Arial"/>
              <a:cs typeface="Arial"/>
              <a:sym typeface="Arial"/>
            </a:endParaRPr>
          </a:p>
          <a:p>
            <a:pPr indent="-285750" lvl="0" marL="457200" marR="0" rtl="0" algn="l">
              <a:lnSpc>
                <a:spcPct val="100000"/>
              </a:lnSpc>
              <a:spcBef>
                <a:spcPts val="1000"/>
              </a:spcBef>
              <a:spcAft>
                <a:spcPts val="1000"/>
              </a:spcAft>
              <a:buClr>
                <a:srgbClr val="333333"/>
              </a:buClr>
              <a:buSzPts val="900"/>
              <a:buFont typeface="Arial"/>
              <a:buChar char="●"/>
            </a:pPr>
            <a:r>
              <a:rPr b="0" i="0" lang="en" sz="1200" u="none" cap="none" strike="noStrike">
                <a:solidFill>
                  <a:srgbClr val="333333"/>
                </a:solidFill>
                <a:highlight>
                  <a:srgbClr val="FFFFFF"/>
                </a:highlight>
                <a:latin typeface="Arial"/>
                <a:ea typeface="Arial"/>
                <a:cs typeface="Arial"/>
                <a:sym typeface="Arial"/>
              </a:rPr>
              <a:t>Also the biases are very similar between libraries, so any artefacts which were introduced should cancel out when doing any kind of differential analysis.</a:t>
            </a:r>
            <a:endParaRPr b="0" i="0" sz="900" u="none" cap="none" strike="noStrike">
              <a:solidFill>
                <a:srgbClr val="333333"/>
              </a:solidFill>
              <a:highlight>
                <a:srgbClr val="FFFFFF"/>
              </a:highlight>
              <a:latin typeface="Arial"/>
              <a:ea typeface="Arial"/>
              <a:cs typeface="Arial"/>
              <a:sym typeface="Arial"/>
            </a:endParaRPr>
          </a:p>
        </p:txBody>
      </p:sp>
      <p:sp>
        <p:nvSpPr>
          <p:cNvPr id="196" name="Google Shape;196;p42"/>
          <p:cNvSpPr txBox="1"/>
          <p:nvPr/>
        </p:nvSpPr>
        <p:spPr>
          <a:xfrm>
            <a:off x="608513" y="4351175"/>
            <a:ext cx="3307800" cy="2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sng" cap="none" strike="noStrike">
                <a:solidFill>
                  <a:schemeClr val="hlink"/>
                </a:solidFill>
                <a:latin typeface="Arial"/>
                <a:ea typeface="Arial"/>
                <a:cs typeface="Arial"/>
                <a:sym typeface="Arial"/>
                <a:hlinkClick r:id="rId3"/>
              </a:rPr>
              <a:t>https://sequencing.qcfail.com/articles/positional-sequence-bias-in-random-primed-libraries/</a:t>
            </a:r>
            <a:endParaRPr b="0" i="0" sz="900" u="none" cap="none" strike="noStrike">
              <a:solidFill>
                <a:srgbClr val="000000"/>
              </a:solidFill>
              <a:latin typeface="Arial"/>
              <a:ea typeface="Arial"/>
              <a:cs typeface="Arial"/>
              <a:sym typeface="Arial"/>
            </a:endParaRPr>
          </a:p>
        </p:txBody>
      </p:sp>
      <p:pic>
        <p:nvPicPr>
          <p:cNvPr id="197" name="Google Shape;197;p42"/>
          <p:cNvPicPr preferRelativeResize="0"/>
          <p:nvPr/>
        </p:nvPicPr>
        <p:blipFill>
          <a:blip r:embed="rId4">
            <a:alphaModFix/>
          </a:blip>
          <a:stretch>
            <a:fillRect/>
          </a:stretch>
        </p:blipFill>
        <p:spPr>
          <a:xfrm>
            <a:off x="202925" y="875275"/>
            <a:ext cx="4118999" cy="2995101"/>
          </a:xfrm>
          <a:prstGeom prst="rect">
            <a:avLst/>
          </a:prstGeom>
          <a:noFill/>
          <a:ln>
            <a:noFill/>
          </a:ln>
        </p:spPr>
      </p:pic>
      <p:pic>
        <p:nvPicPr>
          <p:cNvPr id="198" name="Google Shape;198;p42"/>
          <p:cNvPicPr preferRelativeResize="0"/>
          <p:nvPr/>
        </p:nvPicPr>
        <p:blipFill>
          <a:blip r:embed="rId5">
            <a:alphaModFix/>
          </a:blip>
          <a:stretch>
            <a:fillRect/>
          </a:stretch>
        </p:blipFill>
        <p:spPr>
          <a:xfrm>
            <a:off x="5618149" y="3376900"/>
            <a:ext cx="1971675" cy="285750"/>
          </a:xfrm>
          <a:prstGeom prst="rect">
            <a:avLst/>
          </a:prstGeom>
          <a:noFill/>
          <a:ln>
            <a:noFill/>
          </a:ln>
        </p:spPr>
      </p:pic>
      <p:sp>
        <p:nvSpPr>
          <p:cNvPr id="199" name="Google Shape;199;p42"/>
          <p:cNvSpPr txBox="1"/>
          <p:nvPr/>
        </p:nvSpPr>
        <p:spPr>
          <a:xfrm>
            <a:off x="4781900" y="3870375"/>
            <a:ext cx="425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This is not always a real red flag!</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3"/>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a:t>
            </a:r>
            <a:endParaRPr/>
          </a:p>
        </p:txBody>
      </p:sp>
      <p:pic>
        <p:nvPicPr>
          <p:cNvPr id="205" name="Google Shape;205;p43"/>
          <p:cNvPicPr preferRelativeResize="0"/>
          <p:nvPr/>
        </p:nvPicPr>
        <p:blipFill rotWithShape="1">
          <a:blip r:embed="rId3">
            <a:alphaModFix/>
          </a:blip>
          <a:srcRect b="0" l="0" r="0" t="0"/>
          <a:stretch/>
        </p:blipFill>
        <p:spPr>
          <a:xfrm>
            <a:off x="2374613" y="1228513"/>
            <a:ext cx="4394774" cy="3296081"/>
          </a:xfrm>
          <a:prstGeom prst="rect">
            <a:avLst/>
          </a:prstGeom>
          <a:noFill/>
          <a:ln>
            <a:noFill/>
          </a:ln>
        </p:spPr>
      </p:pic>
      <p:sp>
        <p:nvSpPr>
          <p:cNvPr id="206" name="Google Shape;206;p43"/>
          <p:cNvSpPr txBox="1"/>
          <p:nvPr/>
        </p:nvSpPr>
        <p:spPr>
          <a:xfrm>
            <a:off x="2546150" y="947750"/>
            <a:ext cx="1934700" cy="29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4"/>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duplicated sequences</a:t>
            </a:r>
            <a:endParaRPr/>
          </a:p>
        </p:txBody>
      </p:sp>
      <p:pic>
        <p:nvPicPr>
          <p:cNvPr id="212" name="Google Shape;212;p44"/>
          <p:cNvPicPr preferRelativeResize="0"/>
          <p:nvPr/>
        </p:nvPicPr>
        <p:blipFill rotWithShape="1">
          <a:blip r:embed="rId3">
            <a:alphaModFix/>
          </a:blip>
          <a:srcRect b="0" l="0" r="0" t="0"/>
          <a:stretch/>
        </p:blipFill>
        <p:spPr>
          <a:xfrm>
            <a:off x="4893542" y="691542"/>
            <a:ext cx="4124660" cy="3093500"/>
          </a:xfrm>
          <a:prstGeom prst="rect">
            <a:avLst/>
          </a:prstGeom>
          <a:noFill/>
          <a:ln>
            <a:noFill/>
          </a:ln>
        </p:spPr>
      </p:pic>
      <p:pic>
        <p:nvPicPr>
          <p:cNvPr id="213" name="Google Shape;213;p44"/>
          <p:cNvPicPr preferRelativeResize="0"/>
          <p:nvPr/>
        </p:nvPicPr>
        <p:blipFill rotWithShape="1">
          <a:blip r:embed="rId4">
            <a:alphaModFix/>
          </a:blip>
          <a:srcRect b="0" l="0" r="0" t="0"/>
          <a:stretch/>
        </p:blipFill>
        <p:spPr>
          <a:xfrm>
            <a:off x="152400" y="691561"/>
            <a:ext cx="4124650" cy="3093482"/>
          </a:xfrm>
          <a:prstGeom prst="rect">
            <a:avLst/>
          </a:prstGeom>
          <a:noFill/>
          <a:ln>
            <a:noFill/>
          </a:ln>
        </p:spPr>
      </p:pic>
      <p:sp>
        <p:nvSpPr>
          <p:cNvPr id="214" name="Google Shape;214;p44"/>
          <p:cNvSpPr txBox="1"/>
          <p:nvPr/>
        </p:nvSpPr>
        <p:spPr>
          <a:xfrm>
            <a:off x="264100" y="3802081"/>
            <a:ext cx="8568300" cy="7725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Duplicated sequence: read with exactly the same sequence.</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10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The plot shows the proportion of the library which is made up of sequences in each of the different duplication level bins.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10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The blue line takes the full sequence set and shows how its duplication levels are distributed.</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1000"/>
              </a:spcBef>
              <a:spcAft>
                <a:spcPts val="100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In the red plot the sequences are de-duplicated and the proportions shown are the proportions of the deduplicated set which come from different duplication levels in the original data.</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5"/>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overrepresented sequences</a:t>
            </a:r>
            <a:endParaRPr/>
          </a:p>
        </p:txBody>
      </p:sp>
      <p:grpSp>
        <p:nvGrpSpPr>
          <p:cNvPr id="220" name="Google Shape;220;p45"/>
          <p:cNvGrpSpPr/>
          <p:nvPr/>
        </p:nvGrpSpPr>
        <p:grpSpPr>
          <a:xfrm>
            <a:off x="465675" y="1110700"/>
            <a:ext cx="4956576" cy="3531705"/>
            <a:chOff x="170850" y="732825"/>
            <a:chExt cx="4956576" cy="3531705"/>
          </a:xfrm>
        </p:grpSpPr>
        <p:pic>
          <p:nvPicPr>
            <p:cNvPr id="221" name="Google Shape;221;p45"/>
            <p:cNvPicPr preferRelativeResize="0"/>
            <p:nvPr/>
          </p:nvPicPr>
          <p:blipFill rotWithShape="1">
            <a:blip r:embed="rId3">
              <a:alphaModFix/>
            </a:blip>
            <a:srcRect b="0" l="366" r="583" t="802"/>
            <a:stretch/>
          </p:blipFill>
          <p:spPr>
            <a:xfrm>
              <a:off x="170850" y="732825"/>
              <a:ext cx="4956576" cy="2469175"/>
            </a:xfrm>
            <a:prstGeom prst="rect">
              <a:avLst/>
            </a:prstGeom>
            <a:noFill/>
            <a:ln>
              <a:noFill/>
            </a:ln>
          </p:spPr>
        </p:pic>
        <p:pic>
          <p:nvPicPr>
            <p:cNvPr id="222" name="Google Shape;222;p45"/>
            <p:cNvPicPr preferRelativeResize="0"/>
            <p:nvPr/>
          </p:nvPicPr>
          <p:blipFill rotWithShape="1">
            <a:blip r:embed="rId4">
              <a:alphaModFix/>
            </a:blip>
            <a:srcRect b="0" l="535" r="326" t="3809"/>
            <a:stretch/>
          </p:blipFill>
          <p:spPr>
            <a:xfrm>
              <a:off x="170850" y="3202000"/>
              <a:ext cx="4956574" cy="1062530"/>
            </a:xfrm>
            <a:prstGeom prst="rect">
              <a:avLst/>
            </a:prstGeom>
            <a:noFill/>
            <a:ln>
              <a:noFill/>
            </a:ln>
          </p:spPr>
        </p:pic>
      </p:grpSp>
      <p:grpSp>
        <p:nvGrpSpPr>
          <p:cNvPr id="223" name="Google Shape;223;p45"/>
          <p:cNvGrpSpPr/>
          <p:nvPr/>
        </p:nvGrpSpPr>
        <p:grpSpPr>
          <a:xfrm>
            <a:off x="6203870" y="805900"/>
            <a:ext cx="1943307" cy="3836499"/>
            <a:chOff x="6203870" y="805900"/>
            <a:chExt cx="1943307" cy="3836499"/>
          </a:xfrm>
        </p:grpSpPr>
        <p:pic>
          <p:nvPicPr>
            <p:cNvPr id="224" name="Google Shape;224;p45"/>
            <p:cNvPicPr preferRelativeResize="0"/>
            <p:nvPr/>
          </p:nvPicPr>
          <p:blipFill rotWithShape="1">
            <a:blip r:embed="rId5">
              <a:alphaModFix/>
            </a:blip>
            <a:srcRect b="0" l="0" r="55679" t="7570"/>
            <a:stretch/>
          </p:blipFill>
          <p:spPr>
            <a:xfrm>
              <a:off x="6276002" y="805900"/>
              <a:ext cx="1871175" cy="3531700"/>
            </a:xfrm>
            <a:prstGeom prst="rect">
              <a:avLst/>
            </a:prstGeom>
            <a:noFill/>
            <a:ln>
              <a:noFill/>
            </a:ln>
          </p:spPr>
        </p:pic>
        <p:pic>
          <p:nvPicPr>
            <p:cNvPr id="225" name="Google Shape;225;p45"/>
            <p:cNvPicPr preferRelativeResize="0"/>
            <p:nvPr/>
          </p:nvPicPr>
          <p:blipFill rotWithShape="1">
            <a:blip r:embed="rId5">
              <a:alphaModFix/>
            </a:blip>
            <a:srcRect b="-1385" l="50879" r="4799" t="61323"/>
            <a:stretch/>
          </p:blipFill>
          <p:spPr>
            <a:xfrm>
              <a:off x="6203870" y="3111650"/>
              <a:ext cx="1871175" cy="1530749"/>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6"/>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adapter content</a:t>
            </a:r>
            <a:endParaRPr/>
          </a:p>
        </p:txBody>
      </p:sp>
      <p:pic>
        <p:nvPicPr>
          <p:cNvPr id="231" name="Google Shape;231;p46"/>
          <p:cNvPicPr preferRelativeResize="0"/>
          <p:nvPr/>
        </p:nvPicPr>
        <p:blipFill rotWithShape="1">
          <a:blip r:embed="rId3">
            <a:alphaModFix/>
          </a:blip>
          <a:srcRect b="0" l="0" r="0" t="10490"/>
          <a:stretch/>
        </p:blipFill>
        <p:spPr>
          <a:xfrm>
            <a:off x="1685325" y="1005750"/>
            <a:ext cx="5773348" cy="3981801"/>
          </a:xfrm>
          <a:prstGeom prst="rect">
            <a:avLst/>
          </a:prstGeom>
          <a:noFill/>
          <a:ln>
            <a:noFill/>
          </a:ln>
        </p:spPr>
      </p:pic>
      <p:grpSp>
        <p:nvGrpSpPr>
          <p:cNvPr id="232" name="Google Shape;232;p46"/>
          <p:cNvGrpSpPr/>
          <p:nvPr/>
        </p:nvGrpSpPr>
        <p:grpSpPr>
          <a:xfrm>
            <a:off x="7575104" y="1157876"/>
            <a:ext cx="1335829" cy="2637210"/>
            <a:chOff x="6203870" y="805900"/>
            <a:chExt cx="1943307" cy="3836499"/>
          </a:xfrm>
        </p:grpSpPr>
        <p:pic>
          <p:nvPicPr>
            <p:cNvPr id="233" name="Google Shape;233;p46"/>
            <p:cNvPicPr preferRelativeResize="0"/>
            <p:nvPr/>
          </p:nvPicPr>
          <p:blipFill rotWithShape="1">
            <a:blip r:embed="rId4">
              <a:alphaModFix/>
            </a:blip>
            <a:srcRect b="0" l="0" r="55679" t="7570"/>
            <a:stretch/>
          </p:blipFill>
          <p:spPr>
            <a:xfrm>
              <a:off x="6276002" y="805900"/>
              <a:ext cx="1871175" cy="3531700"/>
            </a:xfrm>
            <a:prstGeom prst="rect">
              <a:avLst/>
            </a:prstGeom>
            <a:noFill/>
            <a:ln>
              <a:noFill/>
            </a:ln>
          </p:spPr>
        </p:pic>
        <p:pic>
          <p:nvPicPr>
            <p:cNvPr id="234" name="Google Shape;234;p46"/>
            <p:cNvPicPr preferRelativeResize="0"/>
            <p:nvPr/>
          </p:nvPicPr>
          <p:blipFill rotWithShape="1">
            <a:blip r:embed="rId4">
              <a:alphaModFix/>
            </a:blip>
            <a:srcRect b="-1385" l="50879" r="4799" t="61323"/>
            <a:stretch/>
          </p:blipFill>
          <p:spPr>
            <a:xfrm>
              <a:off x="6203870" y="3111650"/>
              <a:ext cx="1871175" cy="1530749"/>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7"/>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Fastqc: adapter content</a:t>
            </a:r>
            <a:endParaRPr/>
          </a:p>
        </p:txBody>
      </p:sp>
      <p:pic>
        <p:nvPicPr>
          <p:cNvPr id="240" name="Google Shape;240;p47"/>
          <p:cNvPicPr preferRelativeResize="0"/>
          <p:nvPr/>
        </p:nvPicPr>
        <p:blipFill rotWithShape="1">
          <a:blip r:embed="rId3">
            <a:alphaModFix/>
          </a:blip>
          <a:srcRect b="0" l="0" r="0" t="10490"/>
          <a:stretch/>
        </p:blipFill>
        <p:spPr>
          <a:xfrm>
            <a:off x="1685325" y="1005750"/>
            <a:ext cx="5773348" cy="3981801"/>
          </a:xfrm>
          <a:prstGeom prst="rect">
            <a:avLst/>
          </a:prstGeom>
          <a:noFill/>
          <a:ln>
            <a:noFill/>
          </a:ln>
        </p:spPr>
      </p:pic>
      <p:grpSp>
        <p:nvGrpSpPr>
          <p:cNvPr id="241" name="Google Shape;241;p47"/>
          <p:cNvGrpSpPr/>
          <p:nvPr/>
        </p:nvGrpSpPr>
        <p:grpSpPr>
          <a:xfrm>
            <a:off x="7575104" y="1157876"/>
            <a:ext cx="1335829" cy="2637210"/>
            <a:chOff x="6203870" y="805900"/>
            <a:chExt cx="1943307" cy="3836499"/>
          </a:xfrm>
        </p:grpSpPr>
        <p:pic>
          <p:nvPicPr>
            <p:cNvPr id="242" name="Google Shape;242;p47"/>
            <p:cNvPicPr preferRelativeResize="0"/>
            <p:nvPr/>
          </p:nvPicPr>
          <p:blipFill rotWithShape="1">
            <a:blip r:embed="rId4">
              <a:alphaModFix/>
            </a:blip>
            <a:srcRect b="0" l="0" r="55679" t="7570"/>
            <a:stretch/>
          </p:blipFill>
          <p:spPr>
            <a:xfrm>
              <a:off x="6276002" y="805900"/>
              <a:ext cx="1871175" cy="3531700"/>
            </a:xfrm>
            <a:prstGeom prst="rect">
              <a:avLst/>
            </a:prstGeom>
            <a:noFill/>
            <a:ln>
              <a:noFill/>
            </a:ln>
          </p:spPr>
        </p:pic>
        <p:pic>
          <p:nvPicPr>
            <p:cNvPr id="243" name="Google Shape;243;p47"/>
            <p:cNvPicPr preferRelativeResize="0"/>
            <p:nvPr/>
          </p:nvPicPr>
          <p:blipFill rotWithShape="1">
            <a:blip r:embed="rId4">
              <a:alphaModFix/>
            </a:blip>
            <a:srcRect b="-1385" l="50879" r="4799" t="61323"/>
            <a:stretch/>
          </p:blipFill>
          <p:spPr>
            <a:xfrm>
              <a:off x="6203870" y="3111650"/>
              <a:ext cx="1871175" cy="1530749"/>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8"/>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Trimming reads could help solving some QC issues</a:t>
            </a:r>
            <a:endParaRPr/>
          </a:p>
        </p:txBody>
      </p:sp>
      <p:pic>
        <p:nvPicPr>
          <p:cNvPr id="249" name="Google Shape;249;p48"/>
          <p:cNvPicPr preferRelativeResize="0"/>
          <p:nvPr/>
        </p:nvPicPr>
        <p:blipFill rotWithShape="1">
          <a:blip r:embed="rId3">
            <a:alphaModFix/>
          </a:blip>
          <a:srcRect b="0" l="0" r="0" t="10490"/>
          <a:stretch/>
        </p:blipFill>
        <p:spPr>
          <a:xfrm>
            <a:off x="8925" y="1005750"/>
            <a:ext cx="4786749" cy="3301349"/>
          </a:xfrm>
          <a:prstGeom prst="rect">
            <a:avLst/>
          </a:prstGeom>
          <a:noFill/>
          <a:ln>
            <a:noFill/>
          </a:ln>
        </p:spPr>
      </p:pic>
      <p:pic>
        <p:nvPicPr>
          <p:cNvPr id="250" name="Google Shape;250;p48"/>
          <p:cNvPicPr preferRelativeResize="0"/>
          <p:nvPr/>
        </p:nvPicPr>
        <p:blipFill rotWithShape="1">
          <a:blip r:embed="rId4">
            <a:alphaModFix/>
          </a:blip>
          <a:srcRect b="0" l="0" r="0" t="0"/>
          <a:stretch/>
        </p:blipFill>
        <p:spPr>
          <a:xfrm>
            <a:off x="4938075" y="1017725"/>
            <a:ext cx="4053526" cy="304014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6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t>Aligning spliced reads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Splicing junctions</a:t>
            </a:r>
            <a:endParaRPr/>
          </a:p>
        </p:txBody>
      </p:sp>
      <p:pic>
        <p:nvPicPr>
          <p:cNvPr id="261" name="Google Shape;261;p70"/>
          <p:cNvPicPr preferRelativeResize="0"/>
          <p:nvPr/>
        </p:nvPicPr>
        <p:blipFill rotWithShape="1">
          <a:blip r:embed="rId3">
            <a:alphaModFix/>
          </a:blip>
          <a:srcRect b="0" l="0" r="0" t="0"/>
          <a:stretch/>
        </p:blipFill>
        <p:spPr>
          <a:xfrm>
            <a:off x="993763" y="1126600"/>
            <a:ext cx="7156475" cy="382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Splicing junctions</a:t>
            </a:r>
            <a:endParaRPr/>
          </a:p>
        </p:txBody>
      </p:sp>
      <p:pic>
        <p:nvPicPr>
          <p:cNvPr id="267" name="Google Shape;267;p71"/>
          <p:cNvPicPr preferRelativeResize="0"/>
          <p:nvPr/>
        </p:nvPicPr>
        <p:blipFill rotWithShape="1">
          <a:blip r:embed="rId3">
            <a:alphaModFix/>
          </a:blip>
          <a:srcRect b="0" l="0" r="0" t="0"/>
          <a:stretch/>
        </p:blipFill>
        <p:spPr>
          <a:xfrm>
            <a:off x="1317425" y="1121800"/>
            <a:ext cx="6229318" cy="38209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72"/>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Splicing junctions</a:t>
            </a:r>
            <a:endParaRPr/>
          </a:p>
        </p:txBody>
      </p:sp>
      <p:pic>
        <p:nvPicPr>
          <p:cNvPr id="273" name="Google Shape;273;p72"/>
          <p:cNvPicPr preferRelativeResize="0"/>
          <p:nvPr/>
        </p:nvPicPr>
        <p:blipFill rotWithShape="1">
          <a:blip r:embed="rId3">
            <a:alphaModFix/>
          </a:blip>
          <a:srcRect b="0" l="0" r="0" t="0"/>
          <a:stretch/>
        </p:blipFill>
        <p:spPr>
          <a:xfrm>
            <a:off x="1786325" y="1107300"/>
            <a:ext cx="5629962" cy="38209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69"/>
          <p:cNvSpPr txBox="1"/>
          <p:nvPr>
            <p:ph type="title"/>
          </p:nvPr>
        </p:nvSpPr>
        <p:spPr>
          <a:xfrm>
            <a:off x="311700" y="54832"/>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STAR: Spliced Transcripts Alignment to a Reference</a:t>
            </a:r>
            <a:endParaRPr/>
          </a:p>
        </p:txBody>
      </p:sp>
      <p:pic>
        <p:nvPicPr>
          <p:cNvPr id="279" name="Google Shape;279;p69"/>
          <p:cNvPicPr preferRelativeResize="0"/>
          <p:nvPr/>
        </p:nvPicPr>
        <p:blipFill rotWithShape="1">
          <a:blip r:embed="rId3">
            <a:alphaModFix/>
          </a:blip>
          <a:srcRect b="0" l="0" r="0" t="0"/>
          <a:stretch/>
        </p:blipFill>
        <p:spPr>
          <a:xfrm>
            <a:off x="5286275" y="1408986"/>
            <a:ext cx="3498600" cy="2644851"/>
          </a:xfrm>
          <a:prstGeom prst="rect">
            <a:avLst/>
          </a:prstGeom>
          <a:noFill/>
          <a:ln>
            <a:noFill/>
          </a:ln>
        </p:spPr>
      </p:pic>
      <p:sp>
        <p:nvSpPr>
          <p:cNvPr id="280" name="Google Shape;280;p69"/>
          <p:cNvSpPr txBox="1"/>
          <p:nvPr>
            <p:ph idx="1" type="body"/>
          </p:nvPr>
        </p:nvSpPr>
        <p:spPr>
          <a:xfrm>
            <a:off x="311700" y="1152475"/>
            <a:ext cx="43767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42857"/>
              <a:buNone/>
            </a:pPr>
            <a:r>
              <a:rPr lang="en"/>
              <a:t>Alexander Dobin @ Cold Spring Harbor developed STAR in 2013 to deal with ENCODE RNA-Seq data (&gt;80 billion reads)</a:t>
            </a:r>
            <a:endParaRPr/>
          </a:p>
          <a:p>
            <a:pPr indent="0" lvl="0" marL="0" rtl="0" algn="l">
              <a:lnSpc>
                <a:spcPct val="115000"/>
              </a:lnSpc>
              <a:spcBef>
                <a:spcPts val="1600"/>
              </a:spcBef>
              <a:spcAft>
                <a:spcPts val="0"/>
              </a:spcAft>
              <a:buSzPct val="142857"/>
              <a:buNone/>
            </a:pPr>
            <a:r>
              <a:rPr lang="en"/>
              <a:t>Key ideas:</a:t>
            </a:r>
            <a:endParaRPr/>
          </a:p>
          <a:p>
            <a:pPr indent="-334327" lvl="0" marL="457200" rtl="0" algn="l">
              <a:lnSpc>
                <a:spcPct val="115000"/>
              </a:lnSpc>
              <a:spcBef>
                <a:spcPts val="1600"/>
              </a:spcBef>
              <a:spcAft>
                <a:spcPts val="0"/>
              </a:spcAft>
              <a:buSzPct val="100000"/>
              <a:buChar char="●"/>
            </a:pPr>
            <a:r>
              <a:rPr lang="en"/>
              <a:t>Binary search in suffix arrays to find Maximum Mappable Prefix (MMP)</a:t>
            </a:r>
            <a:endParaRPr/>
          </a:p>
          <a:p>
            <a:pPr indent="-334327" lvl="0" marL="457200" rtl="0" algn="l">
              <a:lnSpc>
                <a:spcPct val="115000"/>
              </a:lnSpc>
              <a:spcBef>
                <a:spcPts val="0"/>
              </a:spcBef>
              <a:spcAft>
                <a:spcPts val="0"/>
              </a:spcAft>
              <a:buSzPct val="100000"/>
              <a:buChar char="●"/>
            </a:pPr>
            <a:r>
              <a:rPr lang="en"/>
              <a:t>Repeat MMP search for unaligned portion of the read.</a:t>
            </a:r>
            <a:endParaRPr/>
          </a:p>
          <a:p>
            <a:pPr indent="0" lvl="0" marL="457200" rtl="0" algn="l">
              <a:lnSpc>
                <a:spcPct val="115000"/>
              </a:lnSpc>
              <a:spcBef>
                <a:spcPts val="0"/>
              </a:spcBef>
              <a:spcAft>
                <a:spcPts val="0"/>
              </a:spcAft>
              <a:buNone/>
            </a:pPr>
            <a:r>
              <a:t/>
            </a:r>
            <a:endParaRPr/>
          </a:p>
          <a:p>
            <a:pPr indent="0" lvl="0" marL="0" rtl="0" algn="l">
              <a:lnSpc>
                <a:spcPct val="115000"/>
              </a:lnSpc>
              <a:spcBef>
                <a:spcPts val="1600"/>
              </a:spcBef>
              <a:spcAft>
                <a:spcPts val="1600"/>
              </a:spcAft>
              <a:buSzPct val="142857"/>
              <a:buNone/>
            </a:pPr>
            <a:r>
              <a:t/>
            </a:r>
            <a:endParaRPr/>
          </a:p>
        </p:txBody>
      </p:sp>
      <p:sp>
        <p:nvSpPr>
          <p:cNvPr id="281" name="Google Shape;281;p69"/>
          <p:cNvSpPr txBox="1"/>
          <p:nvPr>
            <p:ph idx="2" type="body"/>
          </p:nvPr>
        </p:nvSpPr>
        <p:spPr>
          <a:xfrm>
            <a:off x="23925" y="4835300"/>
            <a:ext cx="9144000" cy="308100"/>
          </a:xfrm>
          <a:prstGeom prst="rect">
            <a:avLst/>
          </a:prstGeom>
          <a:noFill/>
          <a:ln>
            <a:noFill/>
          </a:ln>
        </p:spPr>
        <p:txBody>
          <a:bodyPr anchorCtr="0" anchor="t" bIns="91425" lIns="45700" spcFirstLastPara="1" rIns="91425" wrap="square" tIns="45700">
            <a:noAutofit/>
          </a:bodyPr>
          <a:lstStyle/>
          <a:p>
            <a:pPr indent="0" lvl="0" marL="0" rtl="0" algn="l">
              <a:lnSpc>
                <a:spcPct val="115000"/>
              </a:lnSpc>
              <a:spcBef>
                <a:spcPts val="0"/>
              </a:spcBef>
              <a:spcAft>
                <a:spcPts val="1600"/>
              </a:spcAft>
              <a:buSzPts val="600"/>
              <a:buNone/>
            </a:pPr>
            <a:r>
              <a:rPr lang="en"/>
              <a:t>https://www.ncbi.nlm.nih.gov/pmc/articles/PMC3530905/figure/bts635-F1/</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74"/>
          <p:cNvSpPr txBox="1"/>
          <p:nvPr>
            <p:ph type="title"/>
          </p:nvPr>
        </p:nvSpPr>
        <p:spPr>
          <a:xfrm>
            <a:off x="311700" y="54832"/>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File formats: Gene Transfer Format (GTF)</a:t>
            </a:r>
            <a:endParaRPr/>
          </a:p>
        </p:txBody>
      </p:sp>
      <p:sp>
        <p:nvSpPr>
          <p:cNvPr id="287" name="Google Shape;287;p74"/>
          <p:cNvSpPr txBox="1"/>
          <p:nvPr>
            <p:ph idx="1" type="body"/>
          </p:nvPr>
        </p:nvSpPr>
        <p:spPr>
          <a:xfrm>
            <a:off x="311700" y="691525"/>
            <a:ext cx="8607300" cy="4179600"/>
          </a:xfrm>
          <a:prstGeom prst="rect">
            <a:avLst/>
          </a:prstGeom>
          <a:noFill/>
          <a:ln>
            <a:noFill/>
          </a:ln>
        </p:spPr>
        <p:txBody>
          <a:bodyPr anchorCtr="0" anchor="t" bIns="91425" lIns="91425" spcFirstLastPara="1" rIns="91425" wrap="square" tIns="91425">
            <a:normAutofit fontScale="40000" lnSpcReduction="10000"/>
          </a:bodyPr>
          <a:lstStyle/>
          <a:p>
            <a:pPr indent="0" lvl="0" marL="0" rtl="0" algn="l">
              <a:lnSpc>
                <a:spcPct val="115000"/>
              </a:lnSpc>
              <a:spcBef>
                <a:spcPts val="0"/>
              </a:spcBef>
              <a:spcAft>
                <a:spcPts val="0"/>
              </a:spcAft>
              <a:buClr>
                <a:schemeClr val="dk1"/>
              </a:buClr>
              <a:buSzPct val="61110"/>
              <a:buFont typeface="Arial"/>
              <a:buNone/>
            </a:pPr>
            <a:r>
              <a:rPr lang="en"/>
              <a:t>Similar to bed12 format (the 12 column version of bed, including exons), but more rich. Each row is made by 9 columns TAB separated, order of rows is not important.</a:t>
            </a:r>
            <a:endParaRPr/>
          </a:p>
          <a:p>
            <a:pPr indent="0" lvl="0" marL="0" rtl="0" algn="l">
              <a:lnSpc>
                <a:spcPct val="115000"/>
              </a:lnSpc>
              <a:spcBef>
                <a:spcPts val="1600"/>
              </a:spcBef>
              <a:spcAft>
                <a:spcPts val="0"/>
              </a:spcAft>
              <a:buSzPct val="250000"/>
              <a:buNone/>
            </a:pPr>
            <a:r>
              <a:rPr lang="en">
                <a:latin typeface="Courier New"/>
                <a:ea typeface="Courier New"/>
                <a:cs typeface="Courier New"/>
                <a:sym typeface="Courier New"/>
              </a:rPr>
              <a:t>&lt;seqname&gt; &lt;source&gt; &lt;feature&gt;  &lt;start&gt; &lt;end&gt; &lt;score&gt; &lt;strand&gt; &lt;frame&gt; &lt;attributes&gt;</a:t>
            </a:r>
            <a:br>
              <a:rPr lang="en">
                <a:latin typeface="Courier New"/>
                <a:ea typeface="Courier New"/>
                <a:cs typeface="Courier New"/>
                <a:sym typeface="Courier New"/>
              </a:rPr>
            </a:br>
            <a:r>
              <a:rPr lang="en">
                <a:latin typeface="Courier New"/>
                <a:ea typeface="Courier New"/>
                <a:cs typeface="Courier New"/>
                <a:sym typeface="Courier New"/>
              </a:rPr>
              <a:t>381       Twinscan  CDS     	380   401   . 	    +       0       gene_id "001"; transcript_id "001.1";</a:t>
            </a:r>
            <a:br>
              <a:rPr lang="en">
                <a:latin typeface="Courier New"/>
                <a:ea typeface="Courier New"/>
                <a:cs typeface="Courier New"/>
                <a:sym typeface="Courier New"/>
              </a:rPr>
            </a:br>
            <a:r>
              <a:rPr lang="en">
                <a:latin typeface="Courier New"/>
                <a:ea typeface="Courier New"/>
                <a:cs typeface="Courier New"/>
                <a:sym typeface="Courier New"/>
              </a:rPr>
              <a:t>381       Twinscan  CDS		501   650   .	    +       2       gene_id "001"; transcript_id "001.1";</a:t>
            </a:r>
            <a:br>
              <a:rPr lang="en">
                <a:latin typeface="Courier New"/>
                <a:ea typeface="Courier New"/>
                <a:cs typeface="Courier New"/>
                <a:sym typeface="Courier New"/>
              </a:rPr>
            </a:br>
            <a:r>
              <a:rPr lang="en">
                <a:latin typeface="Courier New"/>
                <a:ea typeface="Courier New"/>
                <a:cs typeface="Courier New"/>
                <a:sym typeface="Courier New"/>
              </a:rPr>
              <a:t>381       Twinscan  CDS      	700   707   .   	    +       2       gene_id "001"; transcript_id "001.1";</a:t>
            </a:r>
            <a:br>
              <a:rPr lang="en">
                <a:latin typeface="Courier New"/>
                <a:ea typeface="Courier New"/>
                <a:cs typeface="Courier New"/>
                <a:sym typeface="Courier New"/>
              </a:rPr>
            </a:br>
            <a:r>
              <a:rPr lang="en">
                <a:latin typeface="Courier New"/>
                <a:ea typeface="Courier New"/>
                <a:cs typeface="Courier New"/>
                <a:sym typeface="Courier New"/>
              </a:rPr>
              <a:t>381       Twinscan  start_codon  	380   382   .   	    +       0       gene_id "001"; transcript_id "001.1";</a:t>
            </a:r>
            <a:br>
              <a:rPr lang="en">
                <a:latin typeface="Courier New"/>
                <a:ea typeface="Courier New"/>
                <a:cs typeface="Courier New"/>
                <a:sym typeface="Courier New"/>
              </a:rPr>
            </a:br>
            <a:r>
              <a:rPr lang="en">
                <a:latin typeface="Courier New"/>
                <a:ea typeface="Courier New"/>
                <a:cs typeface="Courier New"/>
                <a:sym typeface="Courier New"/>
              </a:rPr>
              <a:t>381       Twinscan  stop_codon   	708   710   .	    +       0       gene_id "001"; transcript_id "001.1";</a:t>
            </a:r>
            <a:br>
              <a:rPr lang="en">
                <a:latin typeface="Courier New"/>
                <a:ea typeface="Courier New"/>
                <a:cs typeface="Courier New"/>
                <a:sym typeface="Courier New"/>
              </a:rPr>
            </a:br>
            <a:endParaRPr>
              <a:latin typeface="Courier New"/>
              <a:ea typeface="Courier New"/>
              <a:cs typeface="Courier New"/>
              <a:sym typeface="Courier New"/>
            </a:endParaRPr>
          </a:p>
          <a:p>
            <a:pPr indent="0" lvl="0" marL="0" rtl="0" algn="l">
              <a:lnSpc>
                <a:spcPct val="115000"/>
              </a:lnSpc>
              <a:spcBef>
                <a:spcPts val="1600"/>
              </a:spcBef>
              <a:spcAft>
                <a:spcPts val="0"/>
              </a:spcAft>
              <a:buSzPct val="250000"/>
              <a:buNone/>
            </a:pPr>
            <a:r>
              <a:rPr b="1" lang="en"/>
              <a:t>&lt;seqname&gt;</a:t>
            </a:r>
            <a:r>
              <a:rPr lang="en"/>
              <a:t> The name of the sequence. Commonly, this is the chromosome ID or contig ID</a:t>
            </a:r>
            <a:br>
              <a:rPr lang="en"/>
            </a:br>
            <a:r>
              <a:rPr b="1" lang="en"/>
              <a:t>&lt;source&gt;</a:t>
            </a:r>
            <a:r>
              <a:rPr lang="en"/>
              <a:t> Where the annotations came from --- typically the name of either a prediction program or a public database.</a:t>
            </a:r>
            <a:br>
              <a:rPr lang="en"/>
            </a:br>
            <a:r>
              <a:rPr b="1" lang="en"/>
              <a:t>&lt;feature&gt;</a:t>
            </a:r>
            <a:r>
              <a:rPr lang="en"/>
              <a:t> one of the following labels: CDS, start_codon, stop_codon, 5UTR, 3UTR, inter, inter_CNS, intron_CNS, exon</a:t>
            </a:r>
            <a:br>
              <a:rPr lang="en"/>
            </a:br>
            <a:r>
              <a:rPr lang="en"/>
              <a:t>	The feature "exon" describes any transcribed exon.</a:t>
            </a:r>
            <a:br>
              <a:rPr lang="en"/>
            </a:br>
            <a:r>
              <a:rPr lang="en"/>
              <a:t>	Exond features can be repeated when associated to many transcript (transcript_id in the attributes column)</a:t>
            </a:r>
            <a:br>
              <a:rPr lang="en"/>
            </a:br>
            <a:r>
              <a:rPr b="1" lang="en"/>
              <a:t>&lt;start&gt; &lt;end&gt;</a:t>
            </a:r>
            <a:r>
              <a:rPr lang="en"/>
              <a:t> Integer start and end coordinates of the feature relative to the beginning of the sequence named in &lt;seqname&gt; (usually a chromosome), sequence numbering starts at 1</a:t>
            </a:r>
            <a:br>
              <a:rPr lang="en"/>
            </a:br>
            <a:r>
              <a:rPr b="1" lang="en"/>
              <a:t>&lt;score&gt;</a:t>
            </a:r>
            <a:r>
              <a:rPr lang="en"/>
              <a:t> degree of confidence in the feature's existence and coordinates. Depend on the prediction program or database used</a:t>
            </a:r>
            <a:br>
              <a:rPr lang="en"/>
            </a:br>
            <a:r>
              <a:rPr b="1" lang="en"/>
              <a:t>&lt;frame&gt;</a:t>
            </a:r>
            <a:r>
              <a:rPr lang="en"/>
              <a:t> applicable to coding exons,</a:t>
            </a:r>
            <a:br>
              <a:rPr lang="en"/>
            </a:br>
            <a:r>
              <a:rPr lang="en"/>
              <a:t>	0 indicates that the feature begins with a whole codon at the 5' most base (in frame)</a:t>
            </a:r>
            <a:br>
              <a:rPr lang="en"/>
            </a:br>
            <a:r>
              <a:rPr lang="en"/>
              <a:t>	1 means that there is one extra base (the third base of a codon) before the first whole codon and </a:t>
            </a:r>
            <a:br>
              <a:rPr lang="en"/>
            </a:br>
            <a:r>
              <a:rPr lang="en"/>
              <a:t>	2 means that there are two extra base.</a:t>
            </a:r>
            <a:br>
              <a:rPr lang="en"/>
            </a:br>
            <a:r>
              <a:rPr lang="en"/>
              <a:t>	Note that for reverse strand features, the 5' most base is the &lt;end&gt; coordinate.</a:t>
            </a:r>
            <a:br>
              <a:rPr lang="en"/>
            </a:br>
            <a:r>
              <a:rPr b="1" lang="en"/>
              <a:t>&lt;attributes&gt;</a:t>
            </a:r>
            <a:r>
              <a:rPr lang="en"/>
              <a:t> The 9tn column can contain different label, each one with an associated value. Three typical attributes are:</a:t>
            </a:r>
            <a:br>
              <a:rPr lang="en"/>
            </a:br>
            <a:r>
              <a:rPr lang="en"/>
              <a:t>	</a:t>
            </a:r>
            <a:r>
              <a:rPr b="1" lang="en"/>
              <a:t>&lt;gene_id&gt;</a:t>
            </a:r>
            <a:r>
              <a:rPr lang="en"/>
              <a:t> unique identifier for the genomic locus of the transcript. If empty, no gene is associated with this feature.</a:t>
            </a:r>
            <a:br>
              <a:rPr lang="en"/>
            </a:br>
            <a:r>
              <a:rPr lang="en"/>
              <a:t>	</a:t>
            </a:r>
            <a:r>
              <a:rPr b="1" lang="en"/>
              <a:t>&lt;transcript_id&gt;</a:t>
            </a:r>
            <a:r>
              <a:rPr lang="en"/>
              <a:t> unique identifier for the transcript. If empty, no transcript is associated with this feature.</a:t>
            </a:r>
            <a:br>
              <a:rPr lang="en"/>
            </a:br>
            <a:r>
              <a:rPr lang="en"/>
              <a:t>	These attributes are designed for handling multiple transcripts from the same genomic region.</a:t>
            </a:r>
            <a:br>
              <a:rPr lang="en"/>
            </a:br>
            <a:r>
              <a:rPr lang="en"/>
              <a:t>	</a:t>
            </a:r>
            <a:r>
              <a:rPr b="1" lang="en"/>
              <a:t>&lt;gene_biotype&gt; </a:t>
            </a:r>
            <a:r>
              <a:rPr lang="en"/>
              <a:t>the biotype (protein coding or not) of the gene associated to the feature.</a:t>
            </a:r>
            <a:endParaRPr/>
          </a:p>
          <a:p>
            <a:pPr indent="0" lvl="0" marL="0" rtl="0" algn="l">
              <a:lnSpc>
                <a:spcPct val="115000"/>
              </a:lnSpc>
              <a:spcBef>
                <a:spcPts val="1600"/>
              </a:spcBef>
              <a:spcAft>
                <a:spcPts val="1600"/>
              </a:spcAft>
              <a:buSzPct val="250000"/>
              <a:buNone/>
            </a:pPr>
            <a:r>
              <a:rPr lang="en"/>
              <a:t>For more detail see </a:t>
            </a:r>
            <a:r>
              <a:rPr lang="en" u="sng">
                <a:solidFill>
                  <a:schemeClr val="hlink"/>
                </a:solidFill>
                <a:hlinkClick r:id="rId3"/>
              </a:rPr>
              <a:t>https://mblab.wustl.edu/GTF22.html</a:t>
            </a:r>
            <a:r>
              <a:rPr lang="en"/>
              <a:t> </a:t>
            </a:r>
            <a:br>
              <a:rPr lang="en"/>
            </a:br>
            <a:endParaRPr/>
          </a:p>
        </p:txBody>
      </p:sp>
      <p:sp>
        <p:nvSpPr>
          <p:cNvPr id="288" name="Google Shape;288;p74"/>
          <p:cNvSpPr txBox="1"/>
          <p:nvPr>
            <p:ph idx="4294967295" type="body"/>
          </p:nvPr>
        </p:nvSpPr>
        <p:spPr>
          <a:xfrm>
            <a:off x="23925" y="4835300"/>
            <a:ext cx="9144000" cy="30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54ced1b1a9_0_27"/>
          <p:cNvSpPr txBox="1"/>
          <p:nvPr>
            <p:ph type="title"/>
          </p:nvPr>
        </p:nvSpPr>
        <p:spPr>
          <a:xfrm>
            <a:off x="311700" y="54832"/>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 command line</a:t>
            </a:r>
            <a:endParaRPr/>
          </a:p>
        </p:txBody>
      </p:sp>
      <p:sp>
        <p:nvSpPr>
          <p:cNvPr id="294" name="Google Shape;294;g354ced1b1a9_0_27"/>
          <p:cNvSpPr txBox="1"/>
          <p:nvPr/>
        </p:nvSpPr>
        <p:spPr>
          <a:xfrm>
            <a:off x="177100" y="708425"/>
            <a:ext cx="5121300" cy="295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runThreadN 1</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genomeDir</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readFileIn</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readFilesCommand zcat</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outFileNamePrefix</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outSAMtype BAM SoortedByCoordinate</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a:t>
            </a:r>
            <a:r>
              <a:rPr lang="en" sz="1800">
                <a:solidFill>
                  <a:schemeClr val="dk2"/>
                </a:solidFill>
                <a:latin typeface="Roboto Mono"/>
                <a:ea typeface="Roboto Mono"/>
                <a:cs typeface="Roboto Mono"/>
                <a:sym typeface="Roboto Mono"/>
              </a:rPr>
              <a:t>outBAMsortingThreadN 1</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Char char="●"/>
            </a:pPr>
            <a:r>
              <a:rPr lang="en" sz="1800">
                <a:solidFill>
                  <a:schemeClr val="dk2"/>
                </a:solidFill>
              </a:rPr>
              <a:t>Other parameters on mapping details (mismatches scores etc)</a:t>
            </a:r>
            <a:endParaRPr sz="1800">
              <a:solidFill>
                <a:schemeClr val="dk2"/>
              </a:solidFill>
            </a:endParaRPr>
          </a:p>
        </p:txBody>
      </p:sp>
      <p:sp>
        <p:nvSpPr>
          <p:cNvPr id="295" name="Google Shape;295;g354ced1b1a9_0_27"/>
          <p:cNvSpPr txBox="1"/>
          <p:nvPr/>
        </p:nvSpPr>
        <p:spPr>
          <a:xfrm>
            <a:off x="177100" y="3573600"/>
            <a:ext cx="9069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Mono"/>
                <a:ea typeface="Roboto Mono"/>
                <a:cs typeface="Roboto Mono"/>
                <a:sym typeface="Roboto Mono"/>
              </a:rPr>
              <a:t>STAR  --readFilesCommand zcat --runThreadN 1 --genomeDir /home/stud0/annotations/dm6_STAR_index --readFilesIn /home/stud0/aibh_integromics/03_rna_snake/fastq/sample_a.fastq.gz --outFileNamePrefix sample_a_ --outSAMtype BAM SortedByCoordinate --outBAMsortingThreadN 1</a:t>
            </a:r>
            <a:endParaRPr sz="1800">
              <a:solidFill>
                <a:schemeClr val="dk2"/>
              </a:solidFill>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83"/>
          <p:cNvSpPr txBox="1"/>
          <p:nvPr>
            <p:ph type="title"/>
          </p:nvPr>
        </p:nvSpPr>
        <p:spPr>
          <a:xfrm>
            <a:off x="311700" y="1881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FeatureCounts: count matrix</a:t>
            </a:r>
            <a:endParaRPr/>
          </a:p>
        </p:txBody>
      </p:sp>
      <p:sp>
        <p:nvSpPr>
          <p:cNvPr id="301" name="Google Shape;301;p8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302" name="Google Shape;302;p83"/>
          <p:cNvPicPr preferRelativeResize="0"/>
          <p:nvPr/>
        </p:nvPicPr>
        <p:blipFill rotWithShape="1">
          <a:blip r:embed="rId3">
            <a:alphaModFix/>
          </a:blip>
          <a:srcRect b="0" l="0" r="0" t="0"/>
          <a:stretch/>
        </p:blipFill>
        <p:spPr>
          <a:xfrm>
            <a:off x="0" y="1251020"/>
            <a:ext cx="9143998" cy="3566159"/>
          </a:xfrm>
          <a:prstGeom prst="rect">
            <a:avLst/>
          </a:prstGeom>
          <a:noFill/>
          <a:ln>
            <a:noFill/>
          </a:ln>
        </p:spPr>
      </p:pic>
      <p:pic>
        <p:nvPicPr>
          <p:cNvPr id="303" name="Google Shape;303;p83"/>
          <p:cNvPicPr preferRelativeResize="0"/>
          <p:nvPr/>
        </p:nvPicPr>
        <p:blipFill rotWithShape="1">
          <a:blip r:embed="rId4">
            <a:alphaModFix/>
          </a:blip>
          <a:srcRect b="59943" l="0" r="44210" t="32925"/>
          <a:stretch/>
        </p:blipFill>
        <p:spPr>
          <a:xfrm>
            <a:off x="4681375" y="1729975"/>
            <a:ext cx="4252026" cy="333651"/>
          </a:xfrm>
          <a:prstGeom prst="rect">
            <a:avLst/>
          </a:prstGeom>
          <a:noFill/>
          <a:ln>
            <a:noFill/>
          </a:ln>
        </p:spPr>
      </p:pic>
      <p:sp>
        <p:nvSpPr>
          <p:cNvPr id="304" name="Google Shape;304;p83"/>
          <p:cNvSpPr/>
          <p:nvPr/>
        </p:nvSpPr>
        <p:spPr>
          <a:xfrm>
            <a:off x="5854350" y="1676425"/>
            <a:ext cx="3126600" cy="549000"/>
          </a:xfrm>
          <a:prstGeom prst="ellipse">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83"/>
          <p:cNvSpPr/>
          <p:nvPr/>
        </p:nvSpPr>
        <p:spPr>
          <a:xfrm>
            <a:off x="3357750" y="760812"/>
            <a:ext cx="2490825" cy="1187250"/>
          </a:xfrm>
          <a:custGeom>
            <a:rect b="b" l="l" r="r" t="t"/>
            <a:pathLst>
              <a:path extrusionOk="0" h="47490" w="99633">
                <a:moveTo>
                  <a:pt x="99633" y="47490"/>
                </a:moveTo>
                <a:cubicBezTo>
                  <a:pt x="91658" y="39592"/>
                  <a:pt x="68388" y="2181"/>
                  <a:pt x="51782" y="100"/>
                </a:cubicBezTo>
                <a:cubicBezTo>
                  <a:pt x="35177" y="-1980"/>
                  <a:pt x="8630" y="29189"/>
                  <a:pt x="0" y="35007"/>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6" name="Google Shape;306;p83"/>
          <p:cNvPicPr preferRelativeResize="0"/>
          <p:nvPr/>
        </p:nvPicPr>
        <p:blipFill rotWithShape="1">
          <a:blip r:embed="rId4">
            <a:alphaModFix/>
          </a:blip>
          <a:srcRect b="16659" l="0" r="44210" t="78523"/>
          <a:stretch/>
        </p:blipFill>
        <p:spPr>
          <a:xfrm>
            <a:off x="4681375" y="2087812"/>
            <a:ext cx="4252026" cy="2253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54ced1b1a9_0_42"/>
          <p:cNvSpPr txBox="1"/>
          <p:nvPr>
            <p:ph type="title"/>
          </p:nvPr>
        </p:nvSpPr>
        <p:spPr>
          <a:xfrm>
            <a:off x="311700" y="1881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FeatureCounts: count matrix</a:t>
            </a:r>
            <a:endParaRPr/>
          </a:p>
        </p:txBody>
      </p:sp>
      <p:sp>
        <p:nvSpPr>
          <p:cNvPr id="312" name="Google Shape;312;g354ced1b1a9_0_42"/>
          <p:cNvSpPr txBox="1"/>
          <p:nvPr>
            <p:ph idx="1" type="body"/>
          </p:nvPr>
        </p:nvSpPr>
        <p:spPr>
          <a:xfrm>
            <a:off x="311700" y="94585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latin typeface="Roboto Mono"/>
              <a:ea typeface="Roboto Mono"/>
              <a:cs typeface="Roboto Mono"/>
              <a:sym typeface="Roboto Mono"/>
            </a:endParaRPr>
          </a:p>
          <a:p>
            <a:pPr indent="0" lvl="0" marL="0" rtl="0" algn="l">
              <a:lnSpc>
                <a:spcPct val="115000"/>
              </a:lnSpc>
              <a:spcBef>
                <a:spcPts val="1600"/>
              </a:spcBef>
              <a:spcAft>
                <a:spcPts val="1600"/>
              </a:spcAft>
              <a:buSzPts val="1800"/>
              <a:buNone/>
            </a:pPr>
            <a:r>
              <a:rPr lang="en">
                <a:latin typeface="Roboto Mono"/>
                <a:ea typeface="Roboto Mono"/>
                <a:cs typeface="Roboto Mono"/>
                <a:sym typeface="Roboto Mono"/>
              </a:rPr>
              <a:t>featureCounts -o sample_a_counts.tsv -T 1 -t exon -g gene_name -s 0 -a /home/stud0/annotations/ENCODE.gtf sample_a_Aligned.sortedByCoord.out.bam</a:t>
            </a:r>
            <a:endParaRPr>
              <a:latin typeface="Roboto Mono"/>
              <a:ea typeface="Roboto Mono"/>
              <a:cs typeface="Roboto Mono"/>
              <a:sym typeface="Roboto Mono"/>
            </a:endParaRPr>
          </a:p>
        </p:txBody>
      </p:sp>
      <p:sp>
        <p:nvSpPr>
          <p:cNvPr id="313" name="Google Shape;313;g354ced1b1a9_0_42"/>
          <p:cNvSpPr txBox="1"/>
          <p:nvPr/>
        </p:nvSpPr>
        <p:spPr>
          <a:xfrm>
            <a:off x="177100" y="708425"/>
            <a:ext cx="51213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-o count_matrix_file.tsv</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-T 1 </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-t exon: </a:t>
            </a:r>
            <a:r>
              <a:rPr lang="en" sz="1800">
                <a:solidFill>
                  <a:schemeClr val="dk2"/>
                </a:solidFill>
              </a:rPr>
              <a:t>gtf features on which we want to count reads</a:t>
            </a:r>
            <a:endParaRPr sz="1800">
              <a:solidFill>
                <a:schemeClr val="dk2"/>
              </a:solidFill>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-g gene_name: </a:t>
            </a:r>
            <a:r>
              <a:rPr lang="en" sz="1800">
                <a:solidFill>
                  <a:schemeClr val="dk2"/>
                </a:solidFill>
              </a:rPr>
              <a:t>attribute used for </a:t>
            </a:r>
            <a:r>
              <a:rPr b="1" lang="en" sz="1800">
                <a:solidFill>
                  <a:schemeClr val="dk2"/>
                </a:solidFill>
              </a:rPr>
              <a:t>g</a:t>
            </a:r>
            <a:r>
              <a:rPr lang="en" sz="1800">
                <a:solidFill>
                  <a:schemeClr val="dk2"/>
                </a:solidFill>
              </a:rPr>
              <a:t>rouping read counts</a:t>
            </a:r>
            <a:endParaRPr sz="1800">
              <a:solidFill>
                <a:schemeClr val="dk2"/>
              </a:solidFill>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-s 0: </a:t>
            </a:r>
            <a:r>
              <a:rPr lang="en" sz="1800">
                <a:solidFill>
                  <a:schemeClr val="dk2"/>
                </a:solidFill>
              </a:rPr>
              <a:t>parameter for stranded libraries (0 is unstranded)</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latin typeface="Roboto Mono"/>
                <a:ea typeface="Roboto Mono"/>
                <a:cs typeface="Roboto Mono"/>
                <a:sym typeface="Roboto Mono"/>
              </a:rPr>
              <a:t>-a file: </a:t>
            </a:r>
            <a:r>
              <a:rPr lang="en" sz="1800">
                <a:solidFill>
                  <a:schemeClr val="dk2"/>
                </a:solidFill>
              </a:rPr>
              <a:t>gtf file with exon coords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Last argument: bam file (i.e. generated by STAR)</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85"/>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RNAseqC: gene body coverage</a:t>
            </a:r>
            <a:endParaRPr/>
          </a:p>
        </p:txBody>
      </p:sp>
      <p:sp>
        <p:nvSpPr>
          <p:cNvPr id="319" name="Google Shape;319;p85"/>
          <p:cNvSpPr txBox="1"/>
          <p:nvPr>
            <p:ph idx="1" type="body"/>
          </p:nvPr>
        </p:nvSpPr>
        <p:spPr>
          <a:xfrm>
            <a:off x="311700" y="709625"/>
            <a:ext cx="8520600" cy="385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320" name="Google Shape;320;p85"/>
          <p:cNvPicPr preferRelativeResize="0"/>
          <p:nvPr/>
        </p:nvPicPr>
        <p:blipFill rotWithShape="1">
          <a:blip r:embed="rId3">
            <a:alphaModFix/>
          </a:blip>
          <a:srcRect b="0" l="0" r="0" t="0"/>
          <a:stretch/>
        </p:blipFill>
        <p:spPr>
          <a:xfrm>
            <a:off x="114300" y="2129845"/>
            <a:ext cx="4863499" cy="2542751"/>
          </a:xfrm>
          <a:prstGeom prst="rect">
            <a:avLst/>
          </a:prstGeom>
          <a:noFill/>
          <a:ln>
            <a:noFill/>
          </a:ln>
        </p:spPr>
      </p:pic>
      <p:pic>
        <p:nvPicPr>
          <p:cNvPr id="321" name="Google Shape;321;p85"/>
          <p:cNvPicPr preferRelativeResize="0"/>
          <p:nvPr/>
        </p:nvPicPr>
        <p:blipFill rotWithShape="1">
          <a:blip r:embed="rId4">
            <a:alphaModFix/>
          </a:blip>
          <a:srcRect b="0" l="0" r="0" t="0"/>
          <a:stretch/>
        </p:blipFill>
        <p:spPr>
          <a:xfrm>
            <a:off x="5947876" y="1845674"/>
            <a:ext cx="2884425" cy="3111101"/>
          </a:xfrm>
          <a:prstGeom prst="rect">
            <a:avLst/>
          </a:prstGeom>
          <a:noFill/>
          <a:ln>
            <a:noFill/>
          </a:ln>
        </p:spPr>
      </p:pic>
      <p:pic>
        <p:nvPicPr>
          <p:cNvPr id="322" name="Google Shape;322;p85"/>
          <p:cNvPicPr preferRelativeResize="0"/>
          <p:nvPr/>
        </p:nvPicPr>
        <p:blipFill rotWithShape="1">
          <a:blip r:embed="rId5">
            <a:alphaModFix/>
          </a:blip>
          <a:srcRect b="59168" l="0" r="0" t="32926"/>
          <a:stretch/>
        </p:blipFill>
        <p:spPr>
          <a:xfrm>
            <a:off x="383350" y="703150"/>
            <a:ext cx="8377301" cy="406526"/>
          </a:xfrm>
          <a:prstGeom prst="rect">
            <a:avLst/>
          </a:prstGeom>
          <a:noFill/>
          <a:ln>
            <a:noFill/>
          </a:ln>
        </p:spPr>
      </p:pic>
      <p:pic>
        <p:nvPicPr>
          <p:cNvPr id="323" name="Google Shape;323;p85"/>
          <p:cNvPicPr preferRelativeResize="0"/>
          <p:nvPr/>
        </p:nvPicPr>
        <p:blipFill rotWithShape="1">
          <a:blip r:embed="rId5">
            <a:alphaModFix/>
          </a:blip>
          <a:srcRect b="13249" l="0" r="0" t="78845"/>
          <a:stretch/>
        </p:blipFill>
        <p:spPr>
          <a:xfrm>
            <a:off x="383350" y="1088925"/>
            <a:ext cx="8377301" cy="4065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54ced1b1a9_0_57"/>
          <p:cNvSpPr txBox="1"/>
          <p:nvPr>
            <p:ph type="title"/>
          </p:nvPr>
        </p:nvSpPr>
        <p:spPr>
          <a:xfrm>
            <a:off x="311700" y="1881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geneBody_coverage.py</a:t>
            </a:r>
            <a:endParaRPr/>
          </a:p>
        </p:txBody>
      </p:sp>
      <p:sp>
        <p:nvSpPr>
          <p:cNvPr id="329" name="Google Shape;329;g354ced1b1a9_0_57"/>
          <p:cNvSpPr txBox="1"/>
          <p:nvPr>
            <p:ph idx="1" type="body"/>
          </p:nvPr>
        </p:nvSpPr>
        <p:spPr>
          <a:xfrm>
            <a:off x="311700" y="94585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latin typeface="Roboto Mono"/>
              <a:ea typeface="Roboto Mono"/>
              <a:cs typeface="Roboto Mono"/>
              <a:sym typeface="Roboto Mono"/>
            </a:endParaRPr>
          </a:p>
          <a:p>
            <a:pPr indent="0" lvl="0" marL="0" rtl="0" algn="l">
              <a:lnSpc>
                <a:spcPct val="115000"/>
              </a:lnSpc>
              <a:spcBef>
                <a:spcPts val="1600"/>
              </a:spcBef>
              <a:spcAft>
                <a:spcPts val="1600"/>
              </a:spcAft>
              <a:buSzPts val="1800"/>
              <a:buNone/>
            </a:pPr>
            <a:r>
              <a:rPr lang="en">
                <a:latin typeface="Roboto Mono"/>
                <a:ea typeface="Roboto Mono"/>
                <a:cs typeface="Roboto Mono"/>
                <a:sym typeface="Roboto Mono"/>
              </a:rPr>
              <a:t>geneBody_coverage.py -i sample_a_Aligned.sortedByCoord.out.bam -r expr.bed -o sample_a</a:t>
            </a:r>
            <a:endParaRPr>
              <a:latin typeface="Roboto Mono"/>
              <a:ea typeface="Roboto Mono"/>
              <a:cs typeface="Roboto Mono"/>
              <a:sym typeface="Roboto Mono"/>
            </a:endParaRPr>
          </a:p>
        </p:txBody>
      </p:sp>
      <p:sp>
        <p:nvSpPr>
          <p:cNvPr id="330" name="Google Shape;330;g354ced1b1a9_0_57"/>
          <p:cNvSpPr txBox="1"/>
          <p:nvPr/>
        </p:nvSpPr>
        <p:spPr>
          <a:xfrm>
            <a:off x="177100" y="708425"/>
            <a:ext cx="5121300" cy="3509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-i bam file</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-r bed file with the exons coordinates</a:t>
            </a:r>
            <a:endParaRPr sz="1800">
              <a:solidFill>
                <a:schemeClr val="dk2"/>
              </a:solidFill>
              <a:latin typeface="Roboto Mono"/>
              <a:ea typeface="Roboto Mono"/>
              <a:cs typeface="Roboto Mono"/>
              <a:sym typeface="Roboto Mono"/>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-t exon: </a:t>
            </a:r>
            <a:r>
              <a:rPr lang="en" sz="1800">
                <a:solidFill>
                  <a:schemeClr val="dk2"/>
                </a:solidFill>
              </a:rPr>
              <a:t>gtf features on which we want to count reads</a:t>
            </a:r>
            <a:endParaRPr sz="1800">
              <a:solidFill>
                <a:schemeClr val="dk2"/>
              </a:solidFill>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-g gene_name: </a:t>
            </a:r>
            <a:r>
              <a:rPr lang="en" sz="1800">
                <a:solidFill>
                  <a:schemeClr val="dk2"/>
                </a:solidFill>
              </a:rPr>
              <a:t>attribute used for </a:t>
            </a:r>
            <a:r>
              <a:rPr b="1" lang="en" sz="1800">
                <a:solidFill>
                  <a:schemeClr val="dk2"/>
                </a:solidFill>
              </a:rPr>
              <a:t>g</a:t>
            </a:r>
            <a:r>
              <a:rPr lang="en" sz="1800">
                <a:solidFill>
                  <a:schemeClr val="dk2"/>
                </a:solidFill>
              </a:rPr>
              <a:t>rouping read counts</a:t>
            </a:r>
            <a:endParaRPr sz="1800">
              <a:solidFill>
                <a:schemeClr val="dk2"/>
              </a:solidFill>
            </a:endParaRPr>
          </a:p>
          <a:p>
            <a:pPr indent="-342900" lvl="0" marL="457200" rtl="0" algn="l">
              <a:spcBef>
                <a:spcPts val="0"/>
              </a:spcBef>
              <a:spcAft>
                <a:spcPts val="0"/>
              </a:spcAft>
              <a:buClr>
                <a:schemeClr val="dk2"/>
              </a:buClr>
              <a:buSzPts val="1800"/>
              <a:buFont typeface="Roboto Mono"/>
              <a:buChar char="●"/>
            </a:pPr>
            <a:r>
              <a:rPr lang="en" sz="1800">
                <a:solidFill>
                  <a:schemeClr val="dk2"/>
                </a:solidFill>
                <a:latin typeface="Roboto Mono"/>
                <a:ea typeface="Roboto Mono"/>
                <a:cs typeface="Roboto Mono"/>
                <a:sym typeface="Roboto Mono"/>
              </a:rPr>
              <a:t>-s 0: </a:t>
            </a:r>
            <a:r>
              <a:rPr lang="en" sz="1800">
                <a:solidFill>
                  <a:schemeClr val="dk2"/>
                </a:solidFill>
              </a:rPr>
              <a:t>parameter for stranded libraries (0 is unstranded)</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latin typeface="Roboto Mono"/>
                <a:ea typeface="Roboto Mono"/>
                <a:cs typeface="Roboto Mono"/>
                <a:sym typeface="Roboto Mono"/>
              </a:rPr>
              <a:t>-a file: </a:t>
            </a:r>
            <a:r>
              <a:rPr lang="en" sz="1800">
                <a:solidFill>
                  <a:schemeClr val="dk2"/>
                </a:solidFill>
              </a:rPr>
              <a:t>gtf file with exon coords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Last argument: bam file (i.e. generated by STAR)</a:t>
            </a:r>
            <a:endParaRPr sz="1800">
              <a:solidFill>
                <a:schemeClr val="dk2"/>
              </a:solidFill>
            </a:endParaRPr>
          </a:p>
        </p:txBody>
      </p:sp>
      <p:sp>
        <p:nvSpPr>
          <p:cNvPr id="331" name="Google Shape;331;g354ced1b1a9_0_57"/>
          <p:cNvSpPr txBox="1"/>
          <p:nvPr/>
        </p:nvSpPr>
        <p:spPr>
          <a:xfrm>
            <a:off x="5785500" y="3121525"/>
            <a:ext cx="343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Needs the bam to be indexed!</a:t>
            </a:r>
            <a:endParaRPr sz="1800">
              <a:solidFill>
                <a:schemeClr val="dk2"/>
              </a:solidFill>
            </a:endParaRPr>
          </a:p>
        </p:txBody>
      </p:sp>
      <p:cxnSp>
        <p:nvCxnSpPr>
          <p:cNvPr id="332" name="Google Shape;332;g354ced1b1a9_0_57"/>
          <p:cNvCxnSpPr/>
          <p:nvPr/>
        </p:nvCxnSpPr>
        <p:spPr>
          <a:xfrm flipH="1" rot="10800000">
            <a:off x="2604950" y="1143850"/>
            <a:ext cx="3372300" cy="346800"/>
          </a:xfrm>
          <a:prstGeom prst="straightConnector1">
            <a:avLst/>
          </a:prstGeom>
          <a:noFill/>
          <a:ln cap="flat" cmpd="sng" w="9525">
            <a:solidFill>
              <a:schemeClr val="dk2"/>
            </a:solidFill>
            <a:prstDash val="solid"/>
            <a:round/>
            <a:headEnd len="med" w="med" type="none"/>
            <a:tailEnd len="med" w="med" type="triangle"/>
          </a:ln>
        </p:spPr>
      </p:cxnSp>
      <p:sp>
        <p:nvSpPr>
          <p:cNvPr id="333" name="Google Shape;333;g354ced1b1a9_0_57"/>
          <p:cNvSpPr txBox="1"/>
          <p:nvPr/>
        </p:nvSpPr>
        <p:spPr>
          <a:xfrm>
            <a:off x="6080700" y="590350"/>
            <a:ext cx="3077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Same info of exons features</a:t>
            </a:r>
            <a:endParaRPr sz="1800">
              <a:solidFill>
                <a:schemeClr val="dk2"/>
              </a:solidFill>
            </a:endParaRPr>
          </a:p>
          <a:p>
            <a:pPr indent="0" lvl="0" marL="0" rtl="0" algn="l">
              <a:spcBef>
                <a:spcPts val="0"/>
              </a:spcBef>
              <a:spcAft>
                <a:spcPts val="0"/>
              </a:spcAft>
              <a:buNone/>
            </a:pPr>
            <a:r>
              <a:rPr lang="en" sz="1800">
                <a:solidFill>
                  <a:schemeClr val="dk2"/>
                </a:solidFill>
              </a:rPr>
              <a:t>in the gtf in a different format. Sometimes also different gene identifiers from different annotation sources…</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54ced1b1a9_0_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samtools	- a toolbox for operating on bam/sam files</a:t>
            </a:r>
            <a:endParaRPr/>
          </a:p>
        </p:txBody>
      </p:sp>
      <p:sp>
        <p:nvSpPr>
          <p:cNvPr id="339" name="Google Shape;339;g354ced1b1a9_0_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ono"/>
                <a:ea typeface="Roboto Mono"/>
                <a:cs typeface="Roboto Mono"/>
                <a:sym typeface="Roboto Mono"/>
              </a:rPr>
              <a:t>samtools index file.bam</a:t>
            </a:r>
            <a:endParaRPr>
              <a:latin typeface="Roboto Mono"/>
              <a:ea typeface="Roboto Mono"/>
              <a:cs typeface="Roboto Mono"/>
              <a:sym typeface="Roboto Mono"/>
            </a:endParaRPr>
          </a:p>
          <a:p>
            <a:pPr indent="0" lvl="0" marL="0" rtl="0" algn="l">
              <a:spcBef>
                <a:spcPts val="0"/>
              </a:spcBef>
              <a:spcAft>
                <a:spcPts val="0"/>
              </a:spcAft>
              <a:buNone/>
            </a:pPr>
            <a:r>
              <a:t/>
            </a:r>
            <a:endParaRPr>
              <a:latin typeface="Roboto Mono"/>
              <a:ea typeface="Roboto Mono"/>
              <a:cs typeface="Roboto Mono"/>
              <a:sym typeface="Roboto Mono"/>
            </a:endParaRPr>
          </a:p>
          <a:p>
            <a:pPr indent="0" lvl="0" marL="0" rtl="0" algn="l">
              <a:spcBef>
                <a:spcPts val="0"/>
              </a:spcBef>
              <a:spcAft>
                <a:spcPts val="0"/>
              </a:spcAft>
              <a:buNone/>
            </a:pPr>
            <a:r>
              <a:rPr lang="en"/>
              <a:t>C</a:t>
            </a:r>
            <a:r>
              <a:rPr lang="en"/>
              <a:t>reates an index to efficiently access the bam (</a:t>
            </a:r>
            <a:r>
              <a:rPr lang="en">
                <a:latin typeface="Roboto Mono"/>
                <a:ea typeface="Roboto Mono"/>
                <a:cs typeface="Roboto Mono"/>
                <a:sym typeface="Roboto Mono"/>
              </a:rPr>
              <a:t>file.bam.bai</a:t>
            </a:r>
            <a:r>
              <a:rPr lang="en"/>
              <a:t>)</a:t>
            </a:r>
            <a:endParaRPr/>
          </a:p>
          <a:p>
            <a:pPr indent="0" lvl="0" marL="0" rtl="0" algn="l">
              <a:spcBef>
                <a:spcPts val="0"/>
              </a:spcBef>
              <a:spcAft>
                <a:spcPts val="0"/>
              </a:spcAft>
              <a:buNone/>
            </a:pPr>
            <a:r>
              <a:rPr lang="en"/>
              <a:t>at specific coordinates (it needs to be coordinate sorted) - </a:t>
            </a:r>
            <a:r>
              <a:rPr b="1" lang="en"/>
              <a:t>random access.</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custom">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