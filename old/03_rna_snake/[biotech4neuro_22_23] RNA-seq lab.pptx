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cbi.nlm.nih.gov/nuccore/NM_021804.3" TargetMode="External"/></Relationships>
</file>

<file path=ppt/notesSlides/_rels/notesSlide2.xml.rels><?xml version="1.0" encoding="UTF-8" standalone="yes"?><Relationships xmlns="http://schemas.openxmlformats.org/package/2006/relationships"><Relationship Id="rId11" Type="http://schemas.openxmlformats.org/officeDocument/2006/relationships/hyperlink" Target="http://genome.ucsc.edu/cgi-bin/hgc?o=87957993&amp;g=htcUserAli&amp;i=../trash/hgSs/hgSs_genome_42eef_7e5810.pslx+..%2Ftrash%2FhgSs%2FhgSs_genome_42eef_7e5810.fa+YourSeq&amp;c=chr10&amp;l=87957993&amp;r=87960923&amp;db=hg38&amp;hgsid=1196154831_YhEoJWo7Hqe9Ok7fm01vkN6U4vJj" TargetMode="External"/><Relationship Id="rId10" Type="http://schemas.openxmlformats.org/officeDocument/2006/relationships/hyperlink" Target="http://genome.ucsc.edu/cgi-bin/hgTracks?position=chr10:87957994-87960923&amp;db=hg38&amp;ss=../trash/hgSs/hgSs_genome_42eef_7e5810.pslx+../trash/hgSs/hgSs_genome_42eef_7e5810.fa&amp;hgsid=1196154831_YhEoJWo7Hqe9Ok7fm01vkN6U4vJj" TargetMode="External"/><Relationship Id="rId13" Type="http://schemas.openxmlformats.org/officeDocument/2006/relationships/hyperlink" Target="http://genome.ucsc.edu/cgi-bin/hgTracks?position=chr15:39408865-39408887&amp;db=hg38&amp;ss=../trash/hgSs/hgSs_genome_42eef_7e5810.pslx+../trash/hgSs/hgSs_genome_42eef_7e5810.fa&amp;hgsid=1196154831_YhEoJWo7Hqe9Ok7fm01vkN6U4vJj" TargetMode="External"/><Relationship Id="rId12" Type="http://schemas.openxmlformats.org/officeDocument/2006/relationships/hyperlink" Target="http://genome.ucsc.edu/cgi-bin/hgc?o=87957993&amp;g=htcUserAli&amp;i=../trash/hgSs/hgSs_genome_42eef_7e5810.pslx+..%2Ftrash%2FhgSs%2FhgSs_genome_42eef_7e5810.fa+YourSeq&amp;c=chr10&amp;l=87957993&amp;r=87960923&amp;db=hg38&amp;hgsid=1196154831_YhEoJWo7Hqe9Ok7fm01vkN6U4vJj" TargetMode="External"/><Relationship Id="rId1" Type="http://schemas.openxmlformats.org/officeDocument/2006/relationships/notesMaster" Target="../notesMasters/notesMaster1.xml"/><Relationship Id="rId2" Type="http://schemas.openxmlformats.org/officeDocument/2006/relationships/hyperlink" Target="http://genome.ucsc.edu/cgi-bin/hgTracks?position=chr9:33675821-33675876&amp;db=hg38&amp;ss=../trash/hgSs/hgSs_genome_42eef_7e5810.pslx+../trash/hgSs/hgSs_genome_42eef_7e5810.fa&amp;hgsid=1196154831_YhEoJWo7Hqe9Ok7fm01vkN6U4vJj" TargetMode="External"/><Relationship Id="rId3" Type="http://schemas.openxmlformats.org/officeDocument/2006/relationships/hyperlink" Target="http://genome.ucsc.edu/cgi-bin/hgc?o=33675820&amp;g=htcUserAli&amp;i=../trash/hgSs/hgSs_genome_42eef_7e5810.pslx+..%2Ftrash%2FhgSs%2FhgSs_genome_42eef_7e5810.fa+YourSeq&amp;c=chr9&amp;l=33675820&amp;r=33675876&amp;db=hg38&amp;hgsid=1196154831_YhEoJWo7Hqe9Ok7fm01vkN6U4vJj" TargetMode="External"/><Relationship Id="rId4" Type="http://schemas.openxmlformats.org/officeDocument/2006/relationships/hyperlink" Target="http://genome.ucsc.edu/cgi-bin/hgc?o=33675820&amp;g=htcUserAli&amp;i=../trash/hgSs/hgSs_genome_42eef_7e5810.pslx+..%2Ftrash%2FhgSs%2FhgSs_genome_42eef_7e5810.fa+YourSeq&amp;c=chr9&amp;l=33675820&amp;r=33675876&amp;db=hg38&amp;hgsid=1196154831_YhEoJWo7Hqe9Ok7fm01vkN6U4vJj" TargetMode="External"/><Relationship Id="rId9" Type="http://schemas.openxmlformats.org/officeDocument/2006/relationships/hyperlink" Target="http://genome.ucsc.edu/FAQ/FAQdownloads.html#downloadFix" TargetMode="External"/><Relationship Id="rId15" Type="http://schemas.openxmlformats.org/officeDocument/2006/relationships/hyperlink" Target="http://genome.ucsc.edu/cgi-bin/hgc?o=39408864&amp;g=htcUserAli&amp;i=../trash/hgSs/hgSs_genome_42eef_7e5810.pslx+..%2Ftrash%2FhgSs%2FhgSs_genome_42eef_7e5810.fa+YourSeq&amp;c=chr15&amp;l=39408864&amp;r=39408887&amp;db=hg38&amp;hgsid=1196154831_YhEoJWo7Hqe9Ok7fm01vkN6U4vJj" TargetMode="External"/><Relationship Id="rId14" Type="http://schemas.openxmlformats.org/officeDocument/2006/relationships/hyperlink" Target="http://genome.ucsc.edu/cgi-bin/hgc?o=39408864&amp;g=htcUserAli&amp;i=../trash/hgSs/hgSs_genome_42eef_7e5810.pslx+..%2Ftrash%2FhgSs%2FhgSs_genome_42eef_7e5810.fa+YourSeq&amp;c=chr15&amp;l=39408864&amp;r=39408887&amp;db=hg38&amp;hgsid=1196154831_YhEoJWo7Hqe9Ok7fm01vkN6U4vJj" TargetMode="External"/><Relationship Id="rId17" Type="http://schemas.openxmlformats.org/officeDocument/2006/relationships/hyperlink" Target="http://genome.ucsc.edu/cgi-bin/hgc?o=81413502&amp;g=htcUserAli&amp;i=../trash/hgSs/hgSs_genome_42eef_7e5810.pslx+..%2Ftrash%2FhgSs%2FhgSs_genome_42eef_7e5810.fa+YourSeq&amp;c=chr3&amp;l=81413502&amp;r=81413522&amp;db=hg38&amp;hgsid=1196154831_YhEoJWo7Hqe9Ok7fm01vkN6U4vJj" TargetMode="External"/><Relationship Id="rId16" Type="http://schemas.openxmlformats.org/officeDocument/2006/relationships/hyperlink" Target="http://genome.ucsc.edu/cgi-bin/hgTracks?position=chr3:81413503-81413522&amp;db=hg38&amp;ss=../trash/hgSs/hgSs_genome_42eef_7e5810.pslx+../trash/hgSs/hgSs_genome_42eef_7e5810.fa&amp;hgsid=1196154831_YhEoJWo7Hqe9Ok7fm01vkN6U4vJj" TargetMode="External"/><Relationship Id="rId5" Type="http://schemas.openxmlformats.org/officeDocument/2006/relationships/hyperlink" Target="http://genome.ucsc.edu/cgi-bin/hgTracks?position=chr10_KQ090021v1_fix:173783-176712&amp;db=hg38&amp;ss=../trash/hgSs/hgSs_genome_42eef_7e5810.pslx+../trash/hgSs/hgSs_genome_42eef_7e5810.fa&amp;hgsid=1196154831_YhEoJWo7Hqe9Ok7fm01vkN6U4vJj" TargetMode="External"/><Relationship Id="rId6" Type="http://schemas.openxmlformats.org/officeDocument/2006/relationships/hyperlink" Target="http://genome.ucsc.edu/cgi-bin/hgc?o=173782&amp;g=htcUserAli&amp;i=../trash/hgSs/hgSs_genome_42eef_7e5810.pslx+..%2Ftrash%2FhgSs%2FhgSs_genome_42eef_7e5810.fa+YourSeq&amp;c=chr10_KQ090021v1_fix&amp;l=173782&amp;r=176712&amp;db=hg38&amp;hgsid=1196154831_YhEoJWo7Hqe9Ok7fm01vkN6U4vJj" TargetMode="External"/><Relationship Id="rId18" Type="http://schemas.openxmlformats.org/officeDocument/2006/relationships/hyperlink" Target="http://genome.ucsc.edu/cgi-bin/hgc?o=81413502&amp;g=htcUserAli&amp;i=../trash/hgSs/hgSs_genome_42eef_7e5810.pslx+..%2Ftrash%2FhgSs%2FhgSs_genome_42eef_7e5810.fa+YourSeq&amp;c=chr3&amp;l=81413502&amp;r=81413522&amp;db=hg38&amp;hgsid=1196154831_YhEoJWo7Hqe9Ok7fm01vkN6U4vJj" TargetMode="External"/><Relationship Id="rId7" Type="http://schemas.openxmlformats.org/officeDocument/2006/relationships/hyperlink" Target="http://genome.ucsc.edu/cgi-bin/hgc?o=173782&amp;g=htcUserAli&amp;i=../trash/hgSs/hgSs_genome_42eef_7e5810.pslx+..%2Ftrash%2FhgSs%2FhgSs_genome_42eef_7e5810.fa+YourSeq&amp;c=chr10_KQ090021v1_fix&amp;l=173782&amp;r=176712&amp;db=hg38&amp;hgsid=1196154831_YhEoJWo7Hqe9Ok7fm01vkN6U4vJj" TargetMode="External"/><Relationship Id="rId8" Type="http://schemas.openxmlformats.org/officeDocument/2006/relationships/hyperlink" Target="http://genome.ucsc.edu/FAQ/FAQdownloads.html#downloadFix" TargetMode="External"/></Relationships>
</file>

<file path=ppt/notesSlides/_rels/notesSlide3.xml.rels><?xml version="1.0" encoding="UTF-8" standalone="yes"?><Relationships xmlns="http://schemas.openxmlformats.org/package/2006/relationships"><Relationship Id="rId11" Type="http://schemas.openxmlformats.org/officeDocument/2006/relationships/hyperlink" Target="http://genome.ucsc.edu/cgi-bin/hgc?o=33676362&amp;g=htcUserAli&amp;i=../trash/hgSs/hgSs_genome_27a_7e6310.pslx+..%2Ftrash%2FhgSs%2FhgSs_genome_27a_7e6310.fa+YourSeq&amp;c=chr9&amp;l=33676362&amp;r=33676434&amp;db=hg38&amp;hgsid=1196154831_YhEoJWo7Hqe9Ok7fm01vkN6U4vJj" TargetMode="External"/><Relationship Id="rId10" Type="http://schemas.openxmlformats.org/officeDocument/2006/relationships/hyperlink" Target="http://genome.ucsc.edu/cgi-bin/hgTracks?position=chr9:33676363-33676434&amp;db=hg38&amp;ss=../trash/hgSs/hgSs_genome_27a_7e6310.pslx+../trash/hgSs/hgSs_genome_27a_7e6310.fa&amp;hgsid=1196154831_YhEoJWo7Hqe9Ok7fm01vkN6U4vJj" TargetMode="External"/><Relationship Id="rId12" Type="http://schemas.openxmlformats.org/officeDocument/2006/relationships/hyperlink" Target="http://genome.ucsc.edu/cgi-bin/hgc?o=33676362&amp;g=htcUserAli&amp;i=../trash/hgSs/hgSs_genome_27a_7e6310.pslx+..%2Ftrash%2FhgSs%2FhgSs_genome_27a_7e6310.fa+YourSeq&amp;c=chr9&amp;l=33676362&amp;r=33676434&amp;db=hg38&amp;hgsid=1196154831_YhEoJWo7Hqe9Ok7fm01vkN6U4vJj" TargetMode="External"/><Relationship Id="rId1" Type="http://schemas.openxmlformats.org/officeDocument/2006/relationships/notesMaster" Target="../notesMasters/notesMaster1.xml"/><Relationship Id="rId2" Type="http://schemas.openxmlformats.org/officeDocument/2006/relationships/hyperlink" Target="http://genome.ucsc.edu/cgi-bin/hgTracks?position=chr10_KQ090021v1_fix:146846-148840&amp;db=hg38&amp;ss=../trash/hgSs/hgSs_genome_27a_7e6310.pslx+../trash/hgSs/hgSs_genome_27a_7e6310.fa&amp;hgsid=1196154831_YhEoJWo7Hqe9Ok7fm01vkN6U4vJj" TargetMode="External"/><Relationship Id="rId3" Type="http://schemas.openxmlformats.org/officeDocument/2006/relationships/hyperlink" Target="http://genome.ucsc.edu/cgi-bin/hgc?o=146845&amp;g=htcUserAli&amp;i=../trash/hgSs/hgSs_genome_27a_7e6310.pslx+..%2Ftrash%2FhgSs%2FhgSs_genome_27a_7e6310.fa+YourSeq&amp;c=chr10_KQ090021v1_fix&amp;l=146845&amp;r=148840&amp;db=hg38&amp;hgsid=1196154831_YhEoJWo7Hqe9Ok7fm01vkN6U4vJj" TargetMode="External"/><Relationship Id="rId4" Type="http://schemas.openxmlformats.org/officeDocument/2006/relationships/hyperlink" Target="http://genome.ucsc.edu/cgi-bin/hgc?o=146845&amp;g=htcUserAli&amp;i=../trash/hgSs/hgSs_genome_27a_7e6310.pslx+..%2Ftrash%2FhgSs%2FhgSs_genome_27a_7e6310.fa+YourSeq&amp;c=chr10_KQ090021v1_fix&amp;l=146845&amp;r=148840&amp;db=hg38&amp;hgsid=1196154831_YhEoJWo7Hqe9Ok7fm01vkN6U4vJj" TargetMode="External"/><Relationship Id="rId9" Type="http://schemas.openxmlformats.org/officeDocument/2006/relationships/hyperlink" Target="http://genome.ucsc.edu/cgi-bin/hgc?o=87931053&amp;g=htcUserAli&amp;i=../trash/hgSs/hgSs_genome_27a_7e6310.pslx+..%2Ftrash%2FhgSs%2FhgSs_genome_27a_7e6310.fa+YourSeq&amp;c=chr10&amp;l=87931053&amp;r=87933048&amp;db=hg38&amp;hgsid=1196154831_YhEoJWo7Hqe9Ok7fm01vkN6U4vJj" TargetMode="External"/><Relationship Id="rId5" Type="http://schemas.openxmlformats.org/officeDocument/2006/relationships/hyperlink" Target="http://genome.ucsc.edu/FAQ/FAQdownloads.html#downloadFix" TargetMode="External"/><Relationship Id="rId6" Type="http://schemas.openxmlformats.org/officeDocument/2006/relationships/hyperlink" Target="http://genome.ucsc.edu/FAQ/FAQdownloads.html#downloadFix" TargetMode="External"/><Relationship Id="rId7" Type="http://schemas.openxmlformats.org/officeDocument/2006/relationships/hyperlink" Target="http://genome.ucsc.edu/cgi-bin/hgTracks?position=chr10:87931054-87933048&amp;db=hg38&amp;ss=../trash/hgSs/hgSs_genome_27a_7e6310.pslx+../trash/hgSs/hgSs_genome_27a_7e6310.fa&amp;hgsid=1196154831_YhEoJWo7Hqe9Ok7fm01vkN6U4vJj" TargetMode="External"/><Relationship Id="rId8" Type="http://schemas.openxmlformats.org/officeDocument/2006/relationships/hyperlink" Target="http://genome.ucsc.edu/cgi-bin/hgc?o=87931053&amp;g=htcUserAli&amp;i=../trash/hgSs/hgSs_genome_27a_7e6310.pslx+..%2Ftrash%2FhgSs%2FhgSs_genome_27a_7e6310.fa+YourSeq&amp;c=chr10&amp;l=87931053&amp;r=87933048&amp;db=hg38&amp;hgsid=1196154831_YhEoJWo7Hqe9Ok7fm01vkN6U4vJj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7eaf811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7eaf811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rgbClr val="2F4A8B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NM_021804.3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read map in many 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 ACTIONS      QUERY   SCORE START   END QSIZE IDENTITY  CHROM                 STRAND  START       END   SPAN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--------------------------------------------------------------------------------------------------------------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56     1    56    56   100.0%  chr9                  -    33675821  33675876     56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55     1    56    56   100.0%  chr10_KQ090021v1_fix  +      173783    176712   2930  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chrom_fix?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55     1    56    56   100.0%  chr10                 +    87957994  87960923   2930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21    15    36    56   100.0%  chr15                 +    39408865  39408887     23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20    33    52    56   100.0%  chr3                  +    81413503  81413522     20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top scoring is on PTENP1, the second one is on PTEN, the score of the second hit is lower </a:t>
            </a:r>
            <a:r>
              <a:rPr lang="en"/>
              <a:t>because</a:t>
            </a:r>
            <a:r>
              <a:rPr lang="en"/>
              <a:t> of a gap bat this gap is exactly on a splicing junction.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cannot decide if the read come from PTEN or PTENP!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6e6e417c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f6e6e417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read align in a </a:t>
            </a:r>
            <a:r>
              <a:rPr lang="en"/>
              <a:t>similar</a:t>
            </a:r>
            <a:r>
              <a:rPr lang="en"/>
              <a:t> way to the </a:t>
            </a:r>
            <a:r>
              <a:rPr lang="en"/>
              <a:t>preceding</a:t>
            </a:r>
            <a:r>
              <a:rPr lang="en"/>
              <a:t> one, but the alingment on PTEN has no mismatch, </a:t>
            </a:r>
            <a:r>
              <a:rPr lang="en"/>
              <a:t>while the alignment on PTENP1 has some mismatch.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the most probable origin of the read is PTEN.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 ACTIONS      QUERY   SCORE START   END QSIZE IDENTITY  CHROM                 STRAND  START       END   SPAN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--------------------------------------------------------------------------------------------------------------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71     1    72    72   100.0%  chr10_KQ090021v1_fix  +      146846    148840   1995  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chrom_fix?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71     1    72    72   100.0%  chr10                 +    87931054  87933048   1995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browser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rgbClr val="121E9A"/>
                </a:solidFill>
                <a:highlight>
                  <a:srgbClr val="FFFEE8"/>
                </a:highlight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details</a:t>
            </a:r>
            <a:r>
              <a:rPr lang="en">
                <a:solidFill>
                  <a:schemeClr val="dk1"/>
                </a:solidFill>
                <a:highlight>
                  <a:srgbClr val="FFFEE8"/>
                </a:highlight>
              </a:rPr>
              <a:t> YourSeq    66     1    72    72    95.9%  chr9                  -    33676363  33676434     72</a:t>
            </a:r>
            <a:endParaRPr>
              <a:solidFill>
                <a:schemeClr val="dk1"/>
              </a:solidFill>
              <a:highlight>
                <a:srgbClr val="FFFEE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7c04f0c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7c04f0c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exact result of the exercise depend on the part&lt;N&gt; of the fastq, but you should see some overrepresented sequences in any case.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of them are </a:t>
            </a:r>
            <a:r>
              <a:rPr lang="en"/>
              <a:t>recognized</a:t>
            </a:r>
            <a:r>
              <a:rPr lang="en"/>
              <a:t> as adapter.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other </a:t>
            </a:r>
            <a:r>
              <a:rPr lang="en"/>
              <a:t>overrepresented</a:t>
            </a:r>
            <a:r>
              <a:rPr lang="en"/>
              <a:t> sequences can be inspected using ncbi blastn.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Usually</a:t>
            </a:r>
            <a:r>
              <a:rPr lang="en"/>
              <a:t> they are just ribosomal RNA sequences of d.melanogaster.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find </a:t>
            </a:r>
            <a:r>
              <a:rPr lang="en"/>
              <a:t>overrepresented</a:t>
            </a:r>
            <a:r>
              <a:rPr lang="en"/>
              <a:t> sequences of </a:t>
            </a:r>
            <a:r>
              <a:rPr lang="en"/>
              <a:t>other</a:t>
            </a:r>
            <a:r>
              <a:rPr lang="en"/>
              <a:t> species this can be a indication of contamination.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7c04f0c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7c04f0c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7c04f0c3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f7c04f0c3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85ce24e6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85ce24e6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f7eaf811a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f7eaf811a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85ce24e6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85ce24e6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7e610cb4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f7e610cb4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chr2L:22.782-23,232 read che supporta versione non coding del trascritto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3200a4ba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f3200a4ba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bam2wig.py -s /home/imolineris/biotech4neuro_lessons/dataset/ucsc/chromInfo.txt -i SRR2920792.1.part0Aligned.out.sorted.bam -u -o SRR2920792.1.part0Aligned.out.sorted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f7eaf811a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f7eaf811a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f9cab5ec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f9cab5ec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9cab5ec2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9cab5ec2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presentation/d/13PFPvz-g67AocbWGl5JgtUP9mUlxebtVW51ZdhBfvxU/edit#slide=id.gf1a803f068_0_243" TargetMode="External"/><Relationship Id="rId4" Type="http://schemas.openxmlformats.org/officeDocument/2006/relationships/hyperlink" Target="https://www.gencodegenes.or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lexdobin/STAR/blob/master/doc/STARmanual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alexdobin/STAR/blob/master/doc/STARmanual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lilab.unito.it/biotech4neuro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presentation/d/13PFPvz-g67AocbWGl5JgtUP9mUlxebtVW51ZdhBfvxU/edit#slide=id.gf1a803f068_0_233" TargetMode="External"/><Relationship Id="rId4" Type="http://schemas.openxmlformats.org/officeDocument/2006/relationships/hyperlink" Target="https://olilab.unito.it/biotech4neuro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54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RNA-seq pipeline, from fastq to count matrix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https://bit.ly/3Dz0IeI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588" y="1889750"/>
            <a:ext cx="2758825" cy="27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09575" y="1990725"/>
            <a:ext cx="7524900" cy="69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1: </a:t>
            </a:r>
            <a:r>
              <a:rPr lang="en"/>
              <a:t>read mapping, a toy example part 1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</a:t>
            </a:r>
            <a:r>
              <a:rPr lang="en"/>
              <a:t>suppose</a:t>
            </a:r>
            <a:r>
              <a:rPr lang="en"/>
              <a:t> that the following sequence is a read coming from a RNA-seq experiment.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&gt;RNAseqEx1</a:t>
            </a:r>
            <a:br>
              <a:rPr lang="en" sz="17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ACAAACAGAACAAGATGCTAAAAAAGGACAAAATGTTTCACTTTTGGGTAAATACA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gene that encode the mRNA that produce this read?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 to answer using the genome browser.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309575" y="1881200"/>
            <a:ext cx="8424900" cy="84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suppose that the following sequence is a read coming from a RNA-seq experiment.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&gt;RNAseqEx2</a:t>
            </a:r>
            <a:br>
              <a:rPr lang="en" sz="17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AAAGACATTATGACACCGCCAAATTTAATTGCAGAGTTGCACAATATCCTTTTGAAGACCATAACCCACCAC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gene that encode the mRNA that produce this read?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 to answer using the genome browser.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2: read mapping, a toy example part 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3: fastqc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inspect a fastq file using fastqc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/home/imolineris/biotech4neuron_lessons/dataset/v1/SRR2920792.1.part&lt;N&gt;.fastq.gz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 the produced html file, for the terminal on local pc 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scp username@IP:/path/remote/file /path/local/file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overrepresented sequences?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there contaminants?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4: inspect a gtf file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Part 1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nspect the gtf file </a:t>
            </a:r>
            <a:r>
              <a:rPr lang="en">
                <a:highlight>
                  <a:schemeClr val="lt2"/>
                </a:highlight>
              </a:rPr>
              <a:t>/home/imolineris/biotech4neuro_lessons/dataset/ucsc/ENCODE.gtf</a:t>
            </a:r>
            <a:r>
              <a:rPr lang="en"/>
              <a:t> referring to </a:t>
            </a:r>
            <a:r>
              <a:rPr lang="en"/>
              <a:t>drosophila</a:t>
            </a:r>
            <a:r>
              <a:rPr lang="en"/>
              <a:t> RefSeq genes annotation (s</a:t>
            </a:r>
            <a:r>
              <a:rPr lang="en"/>
              <a:t>ee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gtf file definition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Using unix power tools count the number of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Protein coding genes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Non protein coding genes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Transcripts and average number of transcripts per gene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Exons and average number of exons per transcripts and per gene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Part 2</a:t>
            </a:r>
            <a:endParaRPr b="1"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Download gtf annotation for human and mouse from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https://www.gencodegenes.org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 will find different type of annotations, start with the “comprehensive” one and then if you want repeat using the “basic” one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Compare the results obtained from drosophila RefSeq with human and mouse GENCODE annotations (basic and or comprehensive)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Produce some plot that highlight the differences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r>
              <a:rPr lang="en"/>
              <a:t> 5: map with STAR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185750" y="1152475"/>
            <a:ext cx="350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has plenty of parameters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Try standard parameters (&lt;ALIGN_PARAM&gt;=standard in the output file naming)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Search in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manual</a:t>
            </a:r>
            <a:r>
              <a:rPr lang="en"/>
              <a:t> the parameters used in ENCODE and understand what they mean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Try with ENCODE parameters</a:t>
            </a:r>
            <a:br>
              <a:rPr lang="en"/>
            </a:br>
            <a:r>
              <a:rPr lang="en"/>
              <a:t>(&lt;ALIGN_PARAM&gt;=ENCODE in the output file naming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Compare the results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Using STAR log files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Using samtools flagstats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the percentage of mapped reads?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the percentage of uniquely mapped reads?</a:t>
            </a:r>
            <a:endParaRPr/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3862400" y="1152475"/>
            <a:ext cx="520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</a:t>
            </a:r>
            <a:r>
              <a:rPr b="1" lang="en"/>
              <a:t> parameters: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--runThreadN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--genomeDir /home/imolineris/biotech4neuron_lessons/dataset/ucsc/dm6_STAR_index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--readFilesIn /home/imolineris/biotech4neuron_lessons/dataset/v1/SRR2920792.1.part&lt;N&gt;.fastq.gz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--readFilesCommand zcat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--outFileNamePrefix SRR2920792.1.part&lt;N&gt;&lt;ALIGN_PARAM&gt;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--outSAMtype BAM SortedByCoordinate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--outBAMsortingThreadN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5: map with STAR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85750" y="1152475"/>
            <a:ext cx="350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has plenty of parameters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Search in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manual</a:t>
            </a:r>
            <a:r>
              <a:rPr lang="en"/>
              <a:t> the parameters used in ENCODE and understand what they mean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Inspect the output file named *Log.final.out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What is the percentage of mapped reads?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What is the percentage of uniquely mapped reads?</a:t>
            </a:r>
            <a:endParaRPr/>
          </a:p>
        </p:txBody>
      </p:sp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3862400" y="1152475"/>
            <a:ext cx="520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 parameters: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--runThreadN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--genomeDir /home/imolineris/biotech4neuron_lessons/dataset/ucsc/dm6_STAR_index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--genomeLoad LoadAndKeep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--readFilesIn /home/imolineris/biotech4neuron_lessons/dataset/v1/SRR2920792.1.part&lt;N&gt;.fastq.gz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--readFilesCommand zcat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--outFileNamePrefix SRR2920792.1.part&lt;N&gt;.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--outSAMtype BAM Unsorted</a:t>
            </a:r>
            <a:endParaRPr/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+"/>
            </a:pPr>
            <a:r>
              <a:rPr b="1" lang="en"/>
              <a:t>Other parameters that determine the characteristics and filtering of the mapping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6: inspect the SAM in text format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</a:t>
            </a:r>
            <a:r>
              <a:rPr lang="en">
                <a:highlight>
                  <a:schemeClr val="lt2"/>
                </a:highlight>
              </a:rPr>
              <a:t>samtools view</a:t>
            </a:r>
            <a:r>
              <a:rPr lang="en"/>
              <a:t> to view a .bam file as a text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</a:t>
            </a:r>
            <a:r>
              <a:rPr lang="en"/>
              <a:t> a multimapping 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From the STAR manual: “The number of loci Nmap a read maps to is given by NH:i:Nmap field [in the last SAM column]. Value of 1 corresponds to unique mappers, while values &gt;1 corresponds to multi-mappers. HI </a:t>
            </a:r>
            <a:r>
              <a:rPr lang="en"/>
              <a:t>attributes</a:t>
            </a:r>
            <a:r>
              <a:rPr lang="en"/>
              <a:t> enumerates multiple alignments of a read starting with 1”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it maps?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 in the genome browser the region </a:t>
            </a:r>
            <a:r>
              <a:rPr lang="en"/>
              <a:t>around</a:t>
            </a:r>
            <a:r>
              <a:rPr lang="en"/>
              <a:t> the mapping coordinates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there genes?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there repeats?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and index the bam file 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be visualized on UCSC a bam has to be indexed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samtools sort -@ 1 SRR2920792.1.part&lt;N&gt;.Aligned.out.bam &gt; SRR2920792.1.part&lt;N&gt;.Aligned.out.sorted.bam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</a:t>
            </a:r>
            <a:r>
              <a:rPr lang="en"/>
              <a:t> the output with samtools 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then rm </a:t>
            </a:r>
            <a:r>
              <a:rPr lang="en"/>
              <a:t>SRR2920792.1.part&lt;N&gt;.Aligned.out.bam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and remove unwanted temporary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samtools index </a:t>
            </a:r>
            <a:r>
              <a:rPr lang="en"/>
              <a:t>SRR2920792.1.part&lt;N&gt;.Aligned.out.sorted.bam SRR2920792.1.part&lt;N&gt;.Aligned.out.sorted.bam.bai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r>
              <a:rPr lang="en"/>
              <a:t> 7: Inspect the bam file on the genome browser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directory to host your </a:t>
            </a:r>
            <a:r>
              <a:rPr lang="en"/>
              <a:t>public data /</a:t>
            </a:r>
            <a:r>
              <a:rPr lang="en" sz="1400"/>
              <a:t>var/www/biotech4neuro/&lt;YOUR_USERNAME&gt;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Move the bam file and the bai index  the web accessible directory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/var/www/biotech4neuro/&lt;YOUR_USERNAME&gt;/&lt;YOUR_FILE&gt;.bam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Check the file permission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Go to ucsc, </a:t>
            </a:r>
            <a:r>
              <a:rPr lang="en"/>
              <a:t>choose</a:t>
            </a:r>
            <a:r>
              <a:rPr lang="en"/>
              <a:t> the correct genome (dm6)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the button “add custom tracks”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Insert the URL of your BAM file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https://olilab.unito.it/biotech4neuro/</a:t>
            </a:r>
            <a:r>
              <a:rPr lang="en"/>
              <a:t>&lt;YOUR_USERNAME&gt;</a:t>
            </a:r>
            <a:r>
              <a:rPr lang="en"/>
              <a:t>/&lt;YOUR_FILE&gt;.bam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Push “go to the genome”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Put the track in squish mode and play with the zoom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Search</a:t>
            </a:r>
            <a:r>
              <a:rPr lang="en"/>
              <a:t> a spliced read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Is the library stranded?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 a stranded library the read are all on the same strand on the mRNA (forward library) or all on the reverse strand (reversed library)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 an unstranded library a read can map on the same </a:t>
            </a:r>
            <a:r>
              <a:rPr lang="en"/>
              <a:t>strand</a:t>
            </a:r>
            <a:r>
              <a:rPr lang="en"/>
              <a:t> of mRNA or in the opposite direction.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8: </a:t>
            </a:r>
            <a:r>
              <a:rPr lang="en" u="sng">
                <a:solidFill>
                  <a:schemeClr val="hlink"/>
                </a:solidFill>
                <a:hlinkClick r:id="rId3"/>
              </a:rPr>
              <a:t>wigle</a:t>
            </a:r>
            <a:r>
              <a:rPr lang="en"/>
              <a:t> file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tool </a:t>
            </a:r>
            <a:r>
              <a:rPr lang="en">
                <a:highlight>
                  <a:schemeClr val="lt2"/>
                </a:highlight>
              </a:rPr>
              <a:t>bam2wig.py </a:t>
            </a:r>
            <a:endParaRPr>
              <a:highlight>
                <a:schemeClr val="lt2"/>
              </a:highlight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Try to understand the command syntax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required file with </a:t>
            </a:r>
            <a:r>
              <a:rPr lang="en"/>
              <a:t>chromosome</a:t>
            </a:r>
            <a:r>
              <a:rPr lang="en"/>
              <a:t> sizes is </a:t>
            </a:r>
            <a:br>
              <a:rPr lang="en"/>
            </a:br>
            <a:r>
              <a:rPr lang="en"/>
              <a:t>/home/imolineris/biotech4neuro_lessons/dataset/ucsc/chromInfo.txt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Remember how to build a bai (bam index) if needed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Identify </a:t>
            </a:r>
            <a:r>
              <a:rPr lang="en"/>
              <a:t>technical</a:t>
            </a:r>
            <a:r>
              <a:rPr lang="en"/>
              <a:t> </a:t>
            </a:r>
            <a:r>
              <a:rPr lang="en"/>
              <a:t>parameters</a:t>
            </a:r>
            <a:r>
              <a:rPr lang="en"/>
              <a:t> and those that change the way the resulting wig file is computed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Try a run with default parameters, then if you want, play with normalization and filtering.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Compare the sizes of the obtained .wig file and .bw file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Remove the .wig file.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</a:t>
            </a:r>
            <a:r>
              <a:rPr lang="en"/>
              <a:t>ove</a:t>
            </a:r>
            <a:r>
              <a:rPr lang="en"/>
              <a:t> </a:t>
            </a:r>
            <a:r>
              <a:rPr lang="en"/>
              <a:t>the bw file and in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/var/www/biotech4neuro/&lt;YOUR_USERNAME&gt;/&lt;YOUR_FILE&gt;.bw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Load the bw file in ucsc genome browser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Go to ucsc, choose the correct genome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 the button “add custom tracks”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Insert the URL of your BAM file</a:t>
            </a:r>
            <a:endParaRPr/>
          </a:p>
          <a:p>
            <a:pPr indent="-293369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https://olilab.unito.it/biotech4neuro/</a:t>
            </a:r>
            <a:r>
              <a:rPr lang="en"/>
              <a:t>&lt;YOUR_USERNAME&gt;/&lt;YOUR_FILE&gt;.bw</a:t>
            </a:r>
            <a:endParaRPr/>
          </a:p>
          <a:p>
            <a:pPr indent="-29336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Push “go to the genome”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Put the track in full mode and play with the zoom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Compare the wig track with the pileup of reads in the bam tracks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9: featurecounts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featureCounts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Technical</a:t>
            </a:r>
            <a:r>
              <a:rPr b="1" lang="en"/>
              <a:t> parameters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-o &lt;YOUR_BAM.FILE&gt;.counts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-a /home/imolineris/biotech4neuron_lessons/dataset/ucsc/ENCODE.gtf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-T 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&lt;YOUR_BAM.FILE&gt;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Counting parameters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-t exon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-g gene_name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-s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Optional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-M --fraction</a:t>
            </a:r>
            <a:endParaRPr/>
          </a:p>
        </p:txBody>
      </p:sp>
      <p:sp>
        <p:nvSpPr>
          <p:cNvPr id="127" name="Google Shape;127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change</a:t>
            </a:r>
            <a:r>
              <a:rPr lang="en"/>
              <a:t> if we use -M and/or –fraction?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Inspect the summary file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 many </a:t>
            </a:r>
            <a:r>
              <a:rPr lang="en"/>
              <a:t>assigned</a:t>
            </a:r>
            <a:r>
              <a:rPr lang="en"/>
              <a:t> reads?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are </a:t>
            </a:r>
            <a:r>
              <a:rPr lang="en"/>
              <a:t>the possible reason that cause a read not to be assigned?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Inspect the count file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are most expressed genes?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Use unix power tools to answer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geneBody_coverage.py require two input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Bam file with alignments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Bed file with reference genes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Usually gene </a:t>
            </a:r>
            <a:r>
              <a:rPr lang="en"/>
              <a:t>body</a:t>
            </a:r>
            <a:r>
              <a:rPr lang="en"/>
              <a:t> coverage is not computed on all genes but </a:t>
            </a:r>
            <a:r>
              <a:rPr lang="en"/>
              <a:t>only</a:t>
            </a:r>
            <a:r>
              <a:rPr lang="en"/>
              <a:t> on housekeeping genes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an </a:t>
            </a:r>
            <a:r>
              <a:rPr lang="en"/>
              <a:t>approximation</a:t>
            </a:r>
            <a:r>
              <a:rPr lang="en"/>
              <a:t> of </a:t>
            </a:r>
            <a:r>
              <a:rPr lang="en"/>
              <a:t>housekeeping</a:t>
            </a:r>
            <a:r>
              <a:rPr lang="en"/>
              <a:t> genes chose the 100 most expressed genes.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Identify the 100 most expressed genes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O</a:t>
            </a:r>
            <a:r>
              <a:rPr lang="en"/>
              <a:t>btain a bed file for those genes starting from the full </a:t>
            </a:r>
            <a:r>
              <a:rPr lang="en"/>
              <a:t>ensemble</a:t>
            </a:r>
            <a:r>
              <a:rPr lang="en"/>
              <a:t> annotation in /home/imolineris/biotech4neuro_lessons/dataset/ucsc/dm6_ensembl.bed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run </a:t>
            </a:r>
            <a:r>
              <a:rPr lang="en"/>
              <a:t>geneBody_coverage.py and discuss the output</a:t>
            </a:r>
            <a:endParaRPr/>
          </a:p>
        </p:txBody>
      </p:sp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</a:t>
            </a:r>
            <a:r>
              <a:rPr lang="en"/>
              <a:t>exercise</a:t>
            </a:r>
            <a:r>
              <a:rPr lang="en"/>
              <a:t> 1: gene body coverage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e</a:t>
            </a:r>
            <a:r>
              <a:rPr lang="en"/>
              <a:t>xercise</a:t>
            </a:r>
            <a:r>
              <a:rPr lang="en"/>
              <a:t> 2: read distribution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Compte the number of read that map on different </a:t>
            </a:r>
            <a:r>
              <a:rPr lang="en"/>
              <a:t>genomic</a:t>
            </a:r>
            <a:r>
              <a:rPr lang="en"/>
              <a:t> regions usi</a:t>
            </a:r>
            <a:r>
              <a:rPr lang="en"/>
              <a:t>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read_distribution.py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reference gene annotation use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/home/imolineris/biotech4neuro_lessons/dataset/ucsc/dm6_ensembl.bed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there more read aligned on exons or introns?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