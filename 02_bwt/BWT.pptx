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914e37e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914e37e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914e37e0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914e37e0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914e37e0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914e37e0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914e37e0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914e37e0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14e37e0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14e37e0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914e37e0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914e37e0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914e37e0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914e37e0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14e37e0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914e37e0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914e37e0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914e37e0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914e37e0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914e37e0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14e37e0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914e37e0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914e37e0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914e37e0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914e37e0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914e37e0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BWT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One block at a time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669700" y="4040600"/>
            <a:ext cx="771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(install vscode+estension Remote - SSH)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Small steps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BWT of a string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Last to first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Inverse BWT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BWMatching (the vanilla version - without counts, partial suffix array and mismatches)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BWT of a string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We can follow the definition and implement it directly.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/>
              <a:t>We add the end symbol </a:t>
            </a:r>
            <a:r>
              <a:rPr lang="it" sz="1600"/>
              <a:t>'$' to our string, then we obtain all its possible </a:t>
            </a:r>
            <a:r>
              <a:rPr lang="it" sz="1600"/>
              <a:t>cyclic</a:t>
            </a:r>
            <a:r>
              <a:rPr lang="it" sz="1600"/>
              <a:t> rotations as a list and sort the resulting list, then concatenate their last characters.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/>
              <a:t>To get the i</a:t>
            </a:r>
            <a:r>
              <a:rPr baseline="30000" lang="it" sz="1600"/>
              <a:t>th </a:t>
            </a:r>
            <a:r>
              <a:rPr lang="it" sz="1600"/>
              <a:t>rotation of a string we append its i</a:t>
            </a:r>
            <a:r>
              <a:rPr baseline="30000" lang="it" sz="1600"/>
              <a:t>th</a:t>
            </a:r>
            <a:r>
              <a:rPr lang="it" sz="1600"/>
              <a:t> character to the rest of them: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/>
              <a:t>i=1 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0 1 2 3 4 5 6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P A N A M A $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------------------------&gt; A</a:t>
            </a: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 N A M A $ P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/>
              <a:t>Python string slices makes this simple to code.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Reasoning on the InverseBWT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We have the BWT of a string, i.e. the last column of the matrix.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Determining the first it</a:t>
            </a:r>
            <a:r>
              <a:rPr lang="it"/>
              <a:t>'s easy, it's simply the characters of the last column lexicographicaly ordered: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50" y="2430700"/>
            <a:ext cx="25527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559150" y="2913400"/>
            <a:ext cx="4325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Having the end of string marker and we know that the first letter of our string will be 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Then we can continue going backwards, but we have 5 positions with a in the last column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808275" y="4227425"/>
            <a:ext cx="1786250" cy="910650"/>
          </a:xfrm>
          <a:custGeom>
            <a:rect b="b" l="l" r="r" t="t"/>
            <a:pathLst>
              <a:path extrusionOk="0" h="36426" w="71450">
                <a:moveTo>
                  <a:pt x="68480" y="13816"/>
                </a:moveTo>
                <a:cubicBezTo>
                  <a:pt x="69516" y="16061"/>
                  <a:pt x="72174" y="18459"/>
                  <a:pt x="71183" y="20724"/>
                </a:cubicBezTo>
                <a:cubicBezTo>
                  <a:pt x="63974" y="37201"/>
                  <a:pt x="33937" y="40460"/>
                  <a:pt x="18321" y="31537"/>
                </a:cubicBezTo>
                <a:cubicBezTo>
                  <a:pt x="11538" y="27661"/>
                  <a:pt x="7594" y="19119"/>
                  <a:pt x="6307" y="11414"/>
                </a:cubicBezTo>
                <a:cubicBezTo>
                  <a:pt x="5591" y="7127"/>
                  <a:pt x="4347" y="0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First-last Property</a:t>
            </a:r>
            <a:endParaRPr>
              <a:solidFill>
                <a:srgbClr val="980000"/>
              </a:solidFill>
            </a:endParaRPr>
          </a:p>
        </p:txBody>
      </p:sp>
      <p:grpSp>
        <p:nvGrpSpPr>
          <p:cNvPr id="83" name="Google Shape;83;p17"/>
          <p:cNvGrpSpPr/>
          <p:nvPr/>
        </p:nvGrpSpPr>
        <p:grpSpPr>
          <a:xfrm>
            <a:off x="243550" y="1575238"/>
            <a:ext cx="3295650" cy="2188938"/>
            <a:chOff x="243550" y="1152463"/>
            <a:chExt cx="3295650" cy="2188938"/>
          </a:xfrm>
        </p:grpSpPr>
        <p:pic>
          <p:nvPicPr>
            <p:cNvPr id="84" name="Google Shape;84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3550" y="1152463"/>
              <a:ext cx="3295650" cy="1685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7"/>
            <p:cNvSpPr/>
            <p:nvPr/>
          </p:nvSpPr>
          <p:spPr>
            <a:xfrm>
              <a:off x="465550" y="1276500"/>
              <a:ext cx="262800" cy="1404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" name="Google Shape;86;p17"/>
            <p:cNvCxnSpPr>
              <a:stCxn id="85" idx="2"/>
            </p:cNvCxnSpPr>
            <p:nvPr/>
          </p:nvCxnSpPr>
          <p:spPr>
            <a:xfrm>
              <a:off x="596950" y="2680500"/>
              <a:ext cx="146400" cy="660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7" name="Google Shape;87;p17"/>
          <p:cNvSpPr txBox="1"/>
          <p:nvPr/>
        </p:nvSpPr>
        <p:spPr>
          <a:xfrm>
            <a:off x="818450" y="3439000"/>
            <a:ext cx="4325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If we chop off these a</a:t>
            </a:r>
            <a:r>
              <a:rPr baseline="-25000" lang="it" sz="1800">
                <a:solidFill>
                  <a:schemeClr val="dk2"/>
                </a:solidFill>
              </a:rPr>
              <a:t>s</a:t>
            </a:r>
            <a:r>
              <a:rPr lang="it" sz="1800">
                <a:solidFill>
                  <a:schemeClr val="dk2"/>
                </a:solidFill>
              </a:rPr>
              <a:t> and add them as last column we get other rotations and they are still ordered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1675" y="1645888"/>
            <a:ext cx="3695650" cy="16435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7"/>
          <p:cNvCxnSpPr>
            <a:endCxn id="88" idx="2"/>
          </p:cNvCxnSpPr>
          <p:nvPr/>
        </p:nvCxnSpPr>
        <p:spPr>
          <a:xfrm flipH="1" rot="10800000">
            <a:off x="4948300" y="3289454"/>
            <a:ext cx="1201200" cy="74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7"/>
          <p:cNvSpPr txBox="1"/>
          <p:nvPr/>
        </p:nvSpPr>
        <p:spPr>
          <a:xfrm>
            <a:off x="6817950" y="533100"/>
            <a:ext cx="218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These are other entries of the BWT matrix and appear in the same order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164700" y="3536600"/>
            <a:ext cx="2913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accent1"/>
                </a:solidFill>
              </a:rPr>
              <a:t>The k</a:t>
            </a:r>
            <a:r>
              <a:rPr baseline="30000" lang="it" sz="1800">
                <a:solidFill>
                  <a:schemeClr val="accent1"/>
                </a:solidFill>
              </a:rPr>
              <a:t>th </a:t>
            </a:r>
            <a:r>
              <a:rPr lang="it" sz="1800">
                <a:solidFill>
                  <a:schemeClr val="accent1"/>
                </a:solidFill>
              </a:rPr>
              <a:t> </a:t>
            </a:r>
            <a:r>
              <a:rPr lang="it" sz="1800">
                <a:solidFill>
                  <a:schemeClr val="accent1"/>
                </a:solidFill>
              </a:rPr>
              <a:t>occurrence</a:t>
            </a:r>
            <a:r>
              <a:rPr lang="it" sz="1800">
                <a:solidFill>
                  <a:schemeClr val="accent1"/>
                </a:solidFill>
              </a:rPr>
              <a:t> of a character in the first column corresponds to its k</a:t>
            </a:r>
            <a:r>
              <a:rPr baseline="30000" lang="it" sz="1800">
                <a:solidFill>
                  <a:schemeClr val="accent1"/>
                </a:solidFill>
              </a:rPr>
              <a:t>th</a:t>
            </a:r>
            <a:r>
              <a:rPr lang="it" sz="1800">
                <a:solidFill>
                  <a:schemeClr val="accent1"/>
                </a:solidFill>
              </a:rPr>
              <a:t> occurrence in the last column.</a:t>
            </a:r>
            <a:endParaRPr sz="1800">
              <a:solidFill>
                <a:schemeClr val="accent1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1250" y="1048050"/>
            <a:ext cx="2385664" cy="3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Going back to abracadabra…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50" y="1086632"/>
            <a:ext cx="25527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3559150" y="1569332"/>
            <a:ext cx="4325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Having the end of string marker and we know that the first letter of our string will be 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Then we can continue going backwards, but we have 5 positions with a in the last column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2808275" y="2883357"/>
            <a:ext cx="1786250" cy="910650"/>
          </a:xfrm>
          <a:custGeom>
            <a:rect b="b" l="l" r="r" t="t"/>
            <a:pathLst>
              <a:path extrusionOk="0" h="36426" w="71450">
                <a:moveTo>
                  <a:pt x="68480" y="13816"/>
                </a:moveTo>
                <a:cubicBezTo>
                  <a:pt x="69516" y="16061"/>
                  <a:pt x="72174" y="18459"/>
                  <a:pt x="71183" y="20724"/>
                </a:cubicBezTo>
                <a:cubicBezTo>
                  <a:pt x="63974" y="37201"/>
                  <a:pt x="33937" y="40460"/>
                  <a:pt x="18321" y="31537"/>
                </a:cubicBezTo>
                <a:cubicBezTo>
                  <a:pt x="11538" y="27661"/>
                  <a:pt x="7594" y="19119"/>
                  <a:pt x="6307" y="11414"/>
                </a:cubicBezTo>
                <a:cubicBezTo>
                  <a:pt x="5591" y="7127"/>
                  <a:pt x="4347" y="0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2" name="Google Shape;102;p18"/>
          <p:cNvSpPr txBox="1"/>
          <p:nvPr/>
        </p:nvSpPr>
        <p:spPr>
          <a:xfrm>
            <a:off x="337900" y="4287500"/>
            <a:ext cx="43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We know that the want the 3</a:t>
            </a:r>
            <a:r>
              <a:rPr baseline="30000" lang="it" sz="1800">
                <a:solidFill>
                  <a:schemeClr val="dk2"/>
                </a:solidFill>
              </a:rPr>
              <a:t>rd </a:t>
            </a:r>
            <a:r>
              <a:rPr lang="it" sz="1800">
                <a:solidFill>
                  <a:schemeClr val="dk2"/>
                </a:solidFill>
              </a:rPr>
              <a:t>in the last column… so the second letter is a b.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488075" y="1681950"/>
            <a:ext cx="300300" cy="390600"/>
          </a:xfrm>
          <a:prstGeom prst="star6">
            <a:avLst>
              <a:gd fmla="val 28868" name="adj"/>
              <a:gd fmla="val 115470" name="hf"/>
            </a:avLst>
          </a:prstGeom>
          <a:solidFill>
            <a:srgbClr val="FFFDA3">
              <a:alpha val="618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2522993" y="2492750"/>
            <a:ext cx="300300" cy="390600"/>
          </a:xfrm>
          <a:prstGeom prst="star6">
            <a:avLst>
              <a:gd fmla="val 28868" name="adj"/>
              <a:gd fmla="val 115470" name="hf"/>
            </a:avLst>
          </a:prstGeom>
          <a:solidFill>
            <a:srgbClr val="FFFDA3">
              <a:alpha val="618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We could number our characters to implement the inverseBWT, but…</a:t>
            </a:r>
            <a:r>
              <a:rPr lang="it"/>
              <a:t> 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274150" y="1591875"/>
            <a:ext cx="8520600" cy="20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Can be just build two </a:t>
            </a:r>
            <a:r>
              <a:rPr lang="it" sz="1600"/>
              <a:t>"</a:t>
            </a:r>
            <a:r>
              <a:rPr lang="it" sz="1600"/>
              <a:t>maps</a:t>
            </a:r>
            <a:r>
              <a:rPr lang="it" sz="1600"/>
              <a:t>"</a:t>
            </a:r>
            <a:r>
              <a:rPr lang="it" sz="1600"/>
              <a:t>, first to last and last to first (this will be needed for BWMatching in reality) that will bring us from one position of a column to the corresponding of the other one?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/>
              <a:t>We know that if we get the characters of the last column and order them we get the first column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/>
              <a:t>BWT(</a:t>
            </a:r>
            <a:r>
              <a:rPr lang="it" sz="1600"/>
              <a:t>'PANAMA$')= 'AMNPAA$'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0 1 2 3 4 5 6 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A M N P A A $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6 0 4 5 1 2 3  —&gt; The first column is '$ A A A M N P'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9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Maps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229100" y="672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500"/>
              <a:t>BWT('PANAMA$')= 'AMNPAA$'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>
                <a:latin typeface="Courier New"/>
                <a:ea typeface="Courier New"/>
                <a:cs typeface="Courier New"/>
                <a:sym typeface="Courier New"/>
              </a:rPr>
              <a:t>1 2 3 4 5 6 7 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>
                <a:latin typeface="Courier New"/>
                <a:ea typeface="Courier New"/>
                <a:cs typeface="Courier New"/>
                <a:sym typeface="Courier New"/>
              </a:rPr>
              <a:t>A M N P A A $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>
                <a:latin typeface="Courier New"/>
                <a:ea typeface="Courier New"/>
                <a:cs typeface="Courier New"/>
                <a:sym typeface="Courier New"/>
              </a:rPr>
              <a:t>6 0 4 5 1 2 3 </a:t>
            </a:r>
            <a:r>
              <a:rPr lang="it" sz="1500">
                <a:latin typeface="Courier New"/>
                <a:ea typeface="Courier New"/>
                <a:cs typeface="Courier New"/>
                <a:sym typeface="Courier New"/>
              </a:rPr>
              <a:t> —&gt; The first column is '$ A A A M N P'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/>
              <a:t>In the vector = [</a:t>
            </a: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6 0 4 5 1 2 3</a:t>
            </a:r>
            <a:r>
              <a:rPr lang="it" sz="1500"/>
              <a:t>]  indexes are positions in the first column and values are positions of the corresponding characters in the last column.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/>
              <a:t>So: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FC='$ A A A M N P'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LC='A M N P A A $'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600"/>
              <a:t>We search for $ in LC, its index is 6 -&gt; Our first letter is P.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39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Maps - II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221600" y="927600"/>
            <a:ext cx="8520600" cy="27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/>
              <a:t>ftol</a:t>
            </a:r>
            <a:r>
              <a:rPr lang="it" sz="1500"/>
              <a:t> = [</a:t>
            </a: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6 0 4 5 1 2 3]</a:t>
            </a:r>
            <a:r>
              <a:rPr lang="it" sz="1500"/>
              <a:t>  - indexes are positions in the first column and values are indices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/>
              <a:t>of the corresponding characters in the last column. 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FC='$ A A A M N P'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latin typeface="Courier New"/>
                <a:ea typeface="Courier New"/>
                <a:cs typeface="Courier New"/>
                <a:sym typeface="Courier New"/>
              </a:rPr>
              <a:t>LC='A M N P A A $'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/>
              <a:t>We search for $ in LC, its index is 6 -&gt; Our first letter is P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/>
              <a:t>But $ is the only character that we can search directly, then we must use only our map to move between the two columns…we know that we are at position 3 of FC.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582" y="0"/>
            <a:ext cx="610083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6861300" y="4790575"/>
            <a:ext cx="228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488" y="885825"/>
            <a:ext cx="7439025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0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ftol = [</a:t>
            </a:r>
            <a:r>
              <a:rPr lang="it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6 0 4 5 1 2 3]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13" y="885825"/>
            <a:ext cx="7439025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>
            <a:off x="0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ftol = [</a:t>
            </a:r>
            <a:r>
              <a:rPr lang="it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6 0 4 5 1 2 3]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Suggestions for </a:t>
            </a:r>
            <a:r>
              <a:rPr lang="it">
                <a:solidFill>
                  <a:srgbClr val="980000"/>
                </a:solidFill>
              </a:rPr>
              <a:t>FTOL in Python/R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152475"/>
            <a:ext cx="8460000" cy="3815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/>
              <a:t>sorted(iterable, /, *, key=None, reverse=False)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/>
              <a:t>    Return a new list containing all items from the iterable in ascending order.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accent1"/>
                </a:solidFill>
              </a:rPr>
              <a:t>    A custom key function can be supplied to customize the sort order,</a:t>
            </a:r>
            <a:r>
              <a:rPr lang="it" sz="1500"/>
              <a:t> and the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/>
              <a:t>    reverse flag can be set to request the result in descending order</a:t>
            </a:r>
            <a:r>
              <a:rPr lang="it" sz="1500"/>
              <a:t>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&gt;&gt;&gt; sorted(range(0,10))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[0, 1, 2, 3, 4, 5, 6, 7, 8, 9]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&gt;&gt;&gt; sorted(range(0,10), key=lambda x: -x)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[9, 8, 7, 6, 5, 4, 3, 2, 1, 0]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300"/>
              <a:t>order returns a permutation which rearranges its first argument into ascending or descending order, breaking ties by further arguments.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&gt; order(c(3,1,2))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[1] 2 3 1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BWMatching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962" y="1170125"/>
            <a:ext cx="534807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