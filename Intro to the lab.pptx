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n.wikipedia.org/wiki/The_Art_of_Computer_Programming" TargetMode="External"/><Relationship Id="rId3" Type="http://schemas.openxmlformats.org/officeDocument/2006/relationships/hyperlink" Target="https://en.wikipedia.org/wiki/The_Art_of_Computer_Programming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d984f3d2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d984f3d2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d984f3d2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d984f3d2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log in with gmail account (vodka not vodkatad which is ircc account)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d984f3d2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d984f3d2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Knuth is the author of the multi-volume work</a:t>
            </a:r>
            <a:r>
              <a:rPr lang="it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i="1" lang="it" u="sng">
                <a:solidFill>
                  <a:schemeClr val="hlink"/>
                </a:solidFill>
                <a:hlinkClick r:id="rId3"/>
              </a:rPr>
              <a:t>The Art of Computer Programming</a:t>
            </a:r>
            <a:r>
              <a:rPr lang="it">
                <a:solidFill>
                  <a:schemeClr val="dk1"/>
                </a:solidFill>
              </a:rPr>
              <a:t>.    composizione tipografica markdown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d984f3d2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d984f3d2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topological</a:t>
            </a:r>
            <a:r>
              <a:rPr lang="it"/>
              <a:t> ordering is not an issue. backtracking ricorsivo anche no. p285 su PAM  stopped at 266. Split in subproblems &amp; Data structures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fdf736c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fdf736c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fdf736c9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fdf736c9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gap su stringa delle colonne freccia su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fdf736c9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fdf736c9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fdf736c9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fdf736c9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en.wikipedia.org/wiki/Needleman%E2%80%93Wunsch_algorithm#/media/File:Needleman-Wunsch_pairwise_sequence_alignment.pn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189000"/>
            <a:ext cx="9334500" cy="42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it" sz="1800">
                <a:solidFill>
                  <a:schemeClr val="dk2"/>
                </a:solidFill>
              </a:rPr>
              <a:t>17/03: Intro + </a:t>
            </a:r>
            <a:r>
              <a:rPr lang="it" sz="1800" u="sng">
                <a:solidFill>
                  <a:srgbClr val="980000"/>
                </a:solidFill>
              </a:rPr>
              <a:t>Global Alignment</a:t>
            </a:r>
            <a:endParaRPr sz="1800" u="sng">
              <a:solidFill>
                <a:srgbClr val="98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it" sz="1800">
                <a:solidFill>
                  <a:srgbClr val="999999"/>
                </a:solidFill>
              </a:rPr>
              <a:t>23/03</a:t>
            </a:r>
            <a:r>
              <a:rPr lang="it" sz="1800">
                <a:solidFill>
                  <a:schemeClr val="dk2"/>
                </a:solidFill>
              </a:rPr>
              <a:t>: TBD: </a:t>
            </a:r>
            <a:r>
              <a:rPr lang="it" sz="1800" u="sng">
                <a:solidFill>
                  <a:srgbClr val="980000"/>
                </a:solidFill>
              </a:rPr>
              <a:t>Trie &amp; Trie Matching</a:t>
            </a:r>
            <a:endParaRPr sz="1800" u="sng">
              <a:solidFill>
                <a:srgbClr val="98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it" sz="1800">
                <a:solidFill>
                  <a:srgbClr val="999999"/>
                </a:solidFill>
              </a:rPr>
              <a:t>20/04</a:t>
            </a:r>
            <a:r>
              <a:rPr lang="it" sz="1800">
                <a:solidFill>
                  <a:schemeClr val="dk2"/>
                </a:solidFill>
              </a:rPr>
              <a:t>: TBD: </a:t>
            </a:r>
            <a:r>
              <a:rPr lang="it" sz="1800" u="sng">
                <a:solidFill>
                  <a:srgbClr val="980000"/>
                </a:solidFill>
              </a:rPr>
              <a:t>BWT or De Brujin related algorithms</a:t>
            </a:r>
            <a:endParaRPr sz="1800" u="sng">
              <a:solidFill>
                <a:srgbClr val="98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it" sz="1800">
                <a:solidFill>
                  <a:schemeClr val="dk2"/>
                </a:solidFill>
              </a:rPr>
              <a:t>27/04: Bioinformatic pipeline management: snakemake / bash primer if required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it" sz="1800">
                <a:solidFill>
                  <a:schemeClr val="dk2"/>
                </a:solidFill>
              </a:rPr>
              <a:t>28/04: Differential expression tool+example: DESeq2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it" sz="1800">
                <a:solidFill>
                  <a:schemeClr val="dk2"/>
                </a:solidFill>
              </a:rPr>
              <a:t>11/05: </a:t>
            </a:r>
            <a:r>
              <a:rPr lang="it" sz="1800" u="sng">
                <a:solidFill>
                  <a:schemeClr val="dk2"/>
                </a:solidFill>
              </a:rPr>
              <a:t>Last laboratory on RNAseq pipeline+snakemake</a:t>
            </a:r>
            <a:endParaRPr sz="1800" u="sng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49125" y="2046650"/>
            <a:ext cx="8304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u="sng">
                <a:solidFill>
                  <a:srgbClr val="980000"/>
                </a:solidFill>
              </a:rPr>
              <a:t>Rosalind problems</a:t>
            </a:r>
            <a:r>
              <a:rPr lang="it" sz="1800">
                <a:solidFill>
                  <a:schemeClr val="dk2"/>
                </a:solidFill>
              </a:rPr>
              <a:t>, </a:t>
            </a:r>
            <a:r>
              <a:rPr lang="it" sz="1800" u="sng">
                <a:solidFill>
                  <a:schemeClr val="dk2"/>
                </a:solidFill>
              </a:rPr>
              <a:t>e-mail submission</a:t>
            </a:r>
            <a:endParaRPr sz="1800" u="sng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7 total points that will be added to your </a:t>
            </a:r>
            <a:r>
              <a:rPr lang="it" sz="1800">
                <a:solidFill>
                  <a:schemeClr val="dk2"/>
                </a:solidFill>
              </a:rPr>
              <a:t>written exam mark, you have to submit them all </a:t>
            </a:r>
            <a:r>
              <a:rPr lang="it" sz="1800" u="sng">
                <a:solidFill>
                  <a:srgbClr val="1C4587"/>
                </a:solidFill>
              </a:rPr>
              <a:t>at least 1 week before the written exam</a:t>
            </a:r>
            <a:r>
              <a:rPr lang="it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For Rosalind and simple 'glue' tasks for the last laboratory I do not enforce any specific language - do not use logical, functional or exoteric languages because I won't be able to evaluate them. Imperative/OOP languages are fine (R/Python/Rust/perl/C/Java[!]/C#/js - if you opt for something different check it with me :)).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I will notify you if some clarifications on your lab code are needed after the written test (</a:t>
            </a:r>
            <a:r>
              <a:rPr lang="it" sz="1800">
                <a:solidFill>
                  <a:srgbClr val="9900FF"/>
                </a:solidFill>
              </a:rPr>
              <a:t>forewarned is forearmed</a:t>
            </a:r>
            <a:r>
              <a:rPr lang="it" sz="1800">
                <a:solidFill>
                  <a:schemeClr val="dk2"/>
                </a:solidFill>
              </a:rPr>
              <a:t>).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91800" y="4322250"/>
            <a:ext cx="8360400" cy="4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https://rosalind.info/classes/enroll/264ebfb9d6/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62" y="199848"/>
            <a:ext cx="7485877" cy="375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6813" y="3190088"/>
            <a:ext cx="1724025" cy="170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825" y="152400"/>
            <a:ext cx="7079364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7301100" y="1559250"/>
            <a:ext cx="1842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Do save your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code somewhere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safe other than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Rosalind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servers!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323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Premature optimization is the root of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all evil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300975"/>
            <a:ext cx="540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it"/>
              <a:t>Split the task in smaller steps, implement and test them separately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it"/>
              <a:t>Use prints/debuggers to follow the algorithms step by step to help you while studying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it"/>
              <a:t>Do not think too much about efficiency, focus on clear and well organized code where relevant steps are well commented (no excessive obvious comments please)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it"/>
              <a:t>During labs you can ask if you are stuck on previous problems (or </a:t>
            </a:r>
            <a:r>
              <a:rPr lang="it"/>
              <a:t>troubleshoot</a:t>
            </a:r>
            <a:r>
              <a:rPr lang="it"/>
              <a:t> via email/webex/in my office), interacting with your colleagues is encouraged (identical </a:t>
            </a:r>
            <a:r>
              <a:rPr lang="it"/>
              <a:t>solutions</a:t>
            </a:r>
            <a:r>
              <a:rPr lang="it"/>
              <a:t> down to single bits can happen, but…)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3252" y="0"/>
            <a:ext cx="323899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900" y="152400"/>
            <a:ext cx="6712959" cy="48387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17"/>
          <p:cNvCxnSpPr/>
          <p:nvPr/>
        </p:nvCxnSpPr>
        <p:spPr>
          <a:xfrm flipH="1">
            <a:off x="2112750" y="2342250"/>
            <a:ext cx="5386500" cy="197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9497" y="968122"/>
            <a:ext cx="1890300" cy="13741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6929450" y="3152250"/>
            <a:ext cx="1910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(I </a:t>
            </a:r>
            <a:r>
              <a:rPr lang="it" sz="1800">
                <a:solidFill>
                  <a:schemeClr val="dk2"/>
                </a:solidFill>
              </a:rPr>
              <a:t>switched the</a:t>
            </a:r>
            <a:r>
              <a:rPr lang="it" sz="1800">
                <a:solidFill>
                  <a:schemeClr val="dk2"/>
                </a:solidFill>
              </a:rPr>
              <a:t> order of the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two strings and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did not notice…)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My suggestions for implementing the global alignment	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Follow wikipedia page and think about matrices rather than DAG: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https://en.wikipedia.org/wiki/Needleman%E2%80%93Wunsch_algorithm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Split in two large functions: calculate scores &amp; </a:t>
            </a:r>
            <a:r>
              <a:rPr lang="it"/>
              <a:t>annotate direction, then</a:t>
            </a:r>
            <a:r>
              <a:rPr lang="it"/>
              <a:t> traceback &amp; print alignment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Start with simple scoring on DNA: match 1, mismatch&amp;gap -1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Test your functions on small examples (CAT vs CAT)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Larger examples if everything goes well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Decide the priority between directions in case of ties in any way you want but try to test your decision -</a:t>
            </a:r>
            <a:r>
              <a:rPr lang="it" u="sng">
                <a:solidFill>
                  <a:schemeClr val="hlink"/>
                </a:solidFill>
                <a:hlinkClick r:id="rId3"/>
              </a:rPr>
              <a:t> example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Then add the required aminoacid scoring matrix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475" y="285750"/>
            <a:ext cx="4572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5094175" y="1331675"/>
            <a:ext cx="40584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GCATG-CG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G-ATTACA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or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GCA-TGCG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G-ATTACA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?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My </a:t>
            </a:r>
            <a:r>
              <a:rPr lang="it">
                <a:solidFill>
                  <a:srgbClr val="980000"/>
                </a:solidFill>
              </a:rPr>
              <a:t>implementation choices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Two 2D matrices: scores and traceback direction (encoded simply as 0, -1, 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Traceback starts from the bottom-right cell, the </a:t>
            </a:r>
            <a:r>
              <a:rPr lang="it"/>
              <a:t>reconstructed</a:t>
            </a:r>
            <a:r>
              <a:rPr lang="it"/>
              <a:t> alignment strings needs to be reversed</a:t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07538"/>
            <a:ext cx="9144001" cy="180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Debugging duck</a:t>
            </a:r>
            <a:endParaRPr>
              <a:solidFill>
                <a:srgbClr val="980000"/>
              </a:solidFill>
            </a:endParaRPr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5950" y="1592375"/>
            <a:ext cx="4005525" cy="267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